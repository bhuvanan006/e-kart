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7.jpg" ContentType="image/jpg"/>
  <Override PartName="/ppt/notesSlides/notesSlide3.xml" ContentType="application/vnd.openxmlformats-officedocument.presentationml.notesSlide+xml"/>
  <Override PartName="/ppt/media/image20.jpg" ContentType="image/jpg"/>
  <Override PartName="/ppt/media/image21.jpg" ContentType="image/jpg"/>
  <Override PartName="/ppt/media/image23.jpg" ContentType="image/jpg"/>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6" r:id="rId8"/>
    <p:sldId id="262" r:id="rId9"/>
    <p:sldId id="268" r:id="rId10"/>
    <p:sldId id="267" r:id="rId11"/>
    <p:sldId id="264" r:id="rId12"/>
    <p:sldId id="265" r:id="rId13"/>
    <p:sldId id="269" r:id="rId14"/>
    <p:sldId id="271" r:id="rId15"/>
    <p:sldId id="270"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C80720-40D0-44AA-95FA-CC58DF596260}" v="313" dt="2026-01-25T11:56:38.0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doughnutChart>
        <c:varyColors val="1"/>
        <c:ser>
          <c:idx val="0"/>
          <c:order val="0"/>
          <c:tx>
            <c:strRef>
              <c:f>Sheet1!$B$1</c:f>
              <c:strCache>
                <c:ptCount val="1"/>
                <c:pt idx="0">
                  <c:v>Approx.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4-90E4-4C78-9E81-ED21D734A6E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D-90E4-4C78-9E81-ED21D734A6E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8-90E4-4C78-9E81-ED21D734A6E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0E4-4C78-9E81-ED21D734A6E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6-90E4-4C78-9E81-ED21D734A6E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5-90E4-4C78-9E81-ED21D734A6E8}"/>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9-90E4-4C78-9E81-ED21D734A6E8}"/>
              </c:ext>
            </c:extLst>
          </c:dPt>
          <c:dLbls>
            <c:dLbl>
              <c:idx val="0"/>
              <c:layout>
                <c:manualLayout>
                  <c:x val="9.2187499999999881E-2"/>
                  <c:y val="7.0312495674674236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90E4-4C78-9E81-ED21D734A6E8}"/>
                </c:ext>
              </c:extLst>
            </c:dLbl>
            <c:dLbl>
              <c:idx val="1"/>
              <c:layout>
                <c:manualLayout>
                  <c:x val="0.15624999999999989"/>
                  <c:y val="-3.046874812569216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90E4-4C78-9E81-ED21D734A6E8}"/>
                </c:ext>
              </c:extLst>
            </c:dLbl>
            <c:dLbl>
              <c:idx val="2"/>
              <c:layout>
                <c:manualLayout>
                  <c:x val="-5.7812500000000031E-2"/>
                  <c:y val="0.1148437429353010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8-90E4-4C78-9E81-ED21D734A6E8}"/>
                </c:ext>
              </c:extLst>
            </c:dLbl>
            <c:dLbl>
              <c:idx val="3"/>
              <c:layout>
                <c:manualLayout>
                  <c:x val="-9.6875000000000003E-2"/>
                  <c:y val="0.1523437406284608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0E4-4C78-9E81-ED21D734A6E8}"/>
                </c:ext>
              </c:extLst>
            </c:dLbl>
            <c:dLbl>
              <c:idx val="4"/>
              <c:layout>
                <c:manualLayout>
                  <c:x val="-0.12656249999999999"/>
                  <c:y val="7.031249567467419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6-90E4-4C78-9E81-ED21D734A6E8}"/>
                </c:ext>
              </c:extLst>
            </c:dLbl>
            <c:dLbl>
              <c:idx val="5"/>
              <c:layout>
                <c:manualLayout>
                  <c:x val="-0.22031249999999999"/>
                  <c:y val="0"/>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0E4-4C78-9E81-ED21D734A6E8}"/>
                </c:ext>
              </c:extLst>
            </c:dLbl>
            <c:dLbl>
              <c:idx val="6"/>
              <c:layout>
                <c:manualLayout>
                  <c:x val="-6.2500000000000056E-2"/>
                  <c:y val="-7.734374524214165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90E4-4C78-9E81-ED21D734A6E8}"/>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Sheet1!$A$2:$A$8</c:f>
              <c:strCache>
                <c:ptCount val="7"/>
                <c:pt idx="0">
                  <c:v>Chassis / Frame</c:v>
                </c:pt>
                <c:pt idx="1">
                  <c:v>Battery Pack</c:v>
                </c:pt>
                <c:pt idx="2">
                  <c:v>Motor &amp; Controller</c:v>
                </c:pt>
                <c:pt idx="3">
                  <c:v>Wheels &amp; Tyres</c:v>
                </c:pt>
                <c:pt idx="4">
                  <c:v>Steering System</c:v>
                </c:pt>
                <c:pt idx="5">
                  <c:v>Electronics and safety equipments</c:v>
                </c:pt>
                <c:pt idx="6">
                  <c:v>Brakes system </c:v>
                </c:pt>
              </c:strCache>
            </c:strRef>
          </c:cat>
          <c:val>
            <c:numRef>
              <c:f>Sheet1!$B$2:$B$8</c:f>
              <c:numCache>
                <c:formatCode>0%</c:formatCode>
                <c:ptCount val="7"/>
                <c:pt idx="0">
                  <c:v>0.3</c:v>
                </c:pt>
                <c:pt idx="1">
                  <c:v>0.25</c:v>
                </c:pt>
                <c:pt idx="2">
                  <c:v>0.15</c:v>
                </c:pt>
                <c:pt idx="3">
                  <c:v>0.1</c:v>
                </c:pt>
                <c:pt idx="4">
                  <c:v>0.05</c:v>
                </c:pt>
                <c:pt idx="5">
                  <c:v>0.1</c:v>
                </c:pt>
                <c:pt idx="6">
                  <c:v>0.05</c:v>
                </c:pt>
              </c:numCache>
            </c:numRef>
          </c:val>
          <c:extLst>
            <c:ext xmlns:c16="http://schemas.microsoft.com/office/drawing/2014/chart" uri="{C3380CC4-5D6E-409C-BE32-E72D297353CC}">
              <c16:uniqueId val="{00000000-90E4-4C78-9E81-ED21D734A6E8}"/>
            </c:ext>
          </c:extLst>
        </c:ser>
        <c:ser>
          <c:idx val="1"/>
          <c:order val="1"/>
          <c:tx>
            <c:strRef>
              <c:f>Sheet1!$C$1</c:f>
              <c:strCache>
                <c:ptCount val="1"/>
                <c:pt idx="0">
                  <c:v>Weight (kg)</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C-90E4-4C78-9E81-ED21D734A6E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B-90E4-4C78-9E81-ED21D734A6E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A-90E4-4C78-9E81-ED21D734A6E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3-90E4-4C78-9E81-ED21D734A6E8}"/>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2-90E4-4C78-9E81-ED21D734A6E8}"/>
              </c:ext>
            </c:extLst>
          </c:dPt>
          <c:dLbls>
            <c:delete val="1"/>
          </c:dLbls>
          <c:cat>
            <c:strRef>
              <c:f>Sheet1!$A$2:$A$8</c:f>
              <c:strCache>
                <c:ptCount val="7"/>
                <c:pt idx="0">
                  <c:v>Chassis / Frame</c:v>
                </c:pt>
                <c:pt idx="1">
                  <c:v>Battery Pack</c:v>
                </c:pt>
                <c:pt idx="2">
                  <c:v>Motor &amp; Controller</c:v>
                </c:pt>
                <c:pt idx="3">
                  <c:v>Wheels &amp; Tyres</c:v>
                </c:pt>
                <c:pt idx="4">
                  <c:v>Steering System</c:v>
                </c:pt>
                <c:pt idx="5">
                  <c:v>Electronics and safety equipments</c:v>
                </c:pt>
                <c:pt idx="6">
                  <c:v>Brakes system </c:v>
                </c:pt>
              </c:strCache>
            </c:strRef>
          </c:cat>
          <c:val>
            <c:numRef>
              <c:f>Sheet1!$C$2:$C$8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1-90E4-4C78-9E81-ED21D734A6E8}"/>
            </c:ext>
          </c:extLst>
        </c:ser>
        <c:dLbls>
          <c:showLegendKey val="0"/>
          <c:showVal val="0"/>
          <c:showCatName val="0"/>
          <c:showSerName val="0"/>
          <c:showPercent val="0"/>
          <c:showBubbleSize val="0"/>
          <c:showLeaderLines val="0"/>
        </c:dLbls>
        <c:firstSliceAng val="0"/>
        <c:holeSize val="75"/>
      </c:doughnut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E52DC-C356-4FBB-9CF2-279FB1CD6CF8}" type="datetimeFigureOut">
              <a:rPr lang="en-IN" smtClean="0"/>
              <a:t>25-01-2026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B5CBC-6CD6-4737-9101-46850266CC78}" type="slidenum">
              <a:rPr lang="en-IN" smtClean="0"/>
              <a:t>‹#›</a:t>
            </a:fld>
            <a:endParaRPr lang="en-IN"/>
          </a:p>
        </p:txBody>
      </p:sp>
    </p:spTree>
    <p:extLst>
      <p:ext uri="{BB962C8B-B14F-4D97-AF65-F5344CB8AC3E}">
        <p14:creationId xmlns:p14="http://schemas.microsoft.com/office/powerpoint/2010/main" val="657246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9B5CBC-6CD6-4737-9101-46850266CC78}" type="slidenum">
              <a:rPr lang="en-IN" smtClean="0"/>
              <a:t>4</a:t>
            </a:fld>
            <a:endParaRPr lang="en-IN"/>
          </a:p>
        </p:txBody>
      </p:sp>
    </p:spTree>
    <p:extLst>
      <p:ext uri="{BB962C8B-B14F-4D97-AF65-F5344CB8AC3E}">
        <p14:creationId xmlns:p14="http://schemas.microsoft.com/office/powerpoint/2010/main" val="3188149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9B5CBC-6CD6-4737-9101-46850266CC78}" type="slidenum">
              <a:rPr lang="en-IN" smtClean="0"/>
              <a:t>8</a:t>
            </a:fld>
            <a:endParaRPr lang="en-IN"/>
          </a:p>
        </p:txBody>
      </p:sp>
    </p:spTree>
    <p:extLst>
      <p:ext uri="{BB962C8B-B14F-4D97-AF65-F5344CB8AC3E}">
        <p14:creationId xmlns:p14="http://schemas.microsoft.com/office/powerpoint/2010/main" val="112314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9B5CBC-6CD6-4737-9101-46850266CC78}" type="slidenum">
              <a:rPr lang="en-IN" smtClean="0"/>
              <a:t>12</a:t>
            </a:fld>
            <a:endParaRPr lang="en-IN"/>
          </a:p>
        </p:txBody>
      </p:sp>
    </p:spTree>
    <p:extLst>
      <p:ext uri="{BB962C8B-B14F-4D97-AF65-F5344CB8AC3E}">
        <p14:creationId xmlns:p14="http://schemas.microsoft.com/office/powerpoint/2010/main" val="3685780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1A64-8B1B-5B63-89FD-0C2296C0F4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D2789C-8993-83EE-9910-4EE029B007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490D36-C0A1-4FF3-E20A-F1BB6FD8432B}"/>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5" name="Footer Placeholder 4">
            <a:extLst>
              <a:ext uri="{FF2B5EF4-FFF2-40B4-BE49-F238E27FC236}">
                <a16:creationId xmlns:a16="http://schemas.microsoft.com/office/drawing/2014/main" id="{6B861373-BBE8-9A74-B2F6-A4DBCDD212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00C9F4-3272-76CD-A817-884C92DCBAF2}"/>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23322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27C1C-2758-0437-3626-2699036C88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08EB89-A3AC-8801-1F76-B1014F37F5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93B25-E359-85C7-0757-BF05EB9B240E}"/>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5" name="Footer Placeholder 4">
            <a:extLst>
              <a:ext uri="{FF2B5EF4-FFF2-40B4-BE49-F238E27FC236}">
                <a16:creationId xmlns:a16="http://schemas.microsoft.com/office/drawing/2014/main" id="{AA7BD3F5-9C2C-8456-6F43-D6B530ABBC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AD98E6-3F84-3456-4961-0C713ECABF87}"/>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419728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8DEF2-E6BB-96FF-354B-8D2559F6F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2BEABA-88A2-41E2-081A-8EC794F10C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4E9DCB-1CA1-6EC6-7727-29BCCE52C79C}"/>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5" name="Footer Placeholder 4">
            <a:extLst>
              <a:ext uri="{FF2B5EF4-FFF2-40B4-BE49-F238E27FC236}">
                <a16:creationId xmlns:a16="http://schemas.microsoft.com/office/drawing/2014/main" id="{281544C4-2CCC-4832-3B28-55361C814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61342A-7A13-9BBC-8F4F-9836345FD080}"/>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4293237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79925-FBAF-43B6-FB31-23D8A61A10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DC326F-9F90-04CA-1FD6-BA29C2D7DE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8F2107-8DB5-93EB-62AF-A073954604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ABC33-8399-4D93-A95C-FC51DC527D03}"/>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6" name="Footer Placeholder 5">
            <a:extLst>
              <a:ext uri="{FF2B5EF4-FFF2-40B4-BE49-F238E27FC236}">
                <a16:creationId xmlns:a16="http://schemas.microsoft.com/office/drawing/2014/main" id="{DBCE3605-8E97-EB18-C22D-44137D3FD4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B5DFB4-76E9-914D-C886-6229929B4E6E}"/>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4095116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41C75-AC99-2725-2C5E-410FAA8613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A0DE00-4FD5-27FD-D88B-1FA006A571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9FEA4A-33B8-F510-8604-0FA40F164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FADFB61-0EAC-3B3A-66A0-1CC03FB82B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1838B-B7B6-95A9-DBFF-6B1BF89F0C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82697F-0C1C-E7DE-95CA-D6DE6B7D8F66}"/>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8" name="Footer Placeholder 7">
            <a:extLst>
              <a:ext uri="{FF2B5EF4-FFF2-40B4-BE49-F238E27FC236}">
                <a16:creationId xmlns:a16="http://schemas.microsoft.com/office/drawing/2014/main" id="{1D5F4719-6DDC-C4E5-0752-C6D721123EB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9C3004-6B80-8DD6-40BD-5CE0DF263F6C}"/>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330394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8544D-11C7-25C4-31A3-D2E58634FD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67039B-4228-E970-0C07-B93D5DFAD8AB}"/>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4" name="Footer Placeholder 3">
            <a:extLst>
              <a:ext uri="{FF2B5EF4-FFF2-40B4-BE49-F238E27FC236}">
                <a16:creationId xmlns:a16="http://schemas.microsoft.com/office/drawing/2014/main" id="{C8EC8DBC-3A26-7D89-B7B1-1B07937F98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D15711-946D-08F1-7CBA-7721138850AD}"/>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2515883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77D1D-DDCD-1E83-A186-131F87C77E2D}"/>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3" name="Footer Placeholder 2">
            <a:extLst>
              <a:ext uri="{FF2B5EF4-FFF2-40B4-BE49-F238E27FC236}">
                <a16:creationId xmlns:a16="http://schemas.microsoft.com/office/drawing/2014/main" id="{25AC68C1-E0FE-D63D-48C7-7924F264DE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213708-A4B9-3C5D-7C3A-51BDCB12AADA}"/>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521216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E4A8D-C66B-1A59-4FE8-17CA875CC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4F83CE-7AED-1E54-B0D0-1392EEE84C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0611EE-9993-2868-2AD4-940E4F0FBE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9A37C4-C5AD-5D8F-197B-E412BF4EA57B}"/>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6" name="Footer Placeholder 5">
            <a:extLst>
              <a:ext uri="{FF2B5EF4-FFF2-40B4-BE49-F238E27FC236}">
                <a16:creationId xmlns:a16="http://schemas.microsoft.com/office/drawing/2014/main" id="{4549E052-B632-760D-9A60-9D595F5C2E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11F94B-D2F7-01BF-418C-ECAA717933B3}"/>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349520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B6D5-B84E-1A34-946B-2D279214E6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66E032-CC1C-A680-06B1-E945992DAA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D60499-E492-AB87-D9B7-918FE28B12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030A7F-905C-2AF0-AD76-52124014FD70}"/>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6" name="Footer Placeholder 5">
            <a:extLst>
              <a:ext uri="{FF2B5EF4-FFF2-40B4-BE49-F238E27FC236}">
                <a16:creationId xmlns:a16="http://schemas.microsoft.com/office/drawing/2014/main" id="{175F2622-CD15-BC30-3B98-A4F249EBE8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920980-06AA-68C4-9044-E99D35BD9540}"/>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1155277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31AB2-BA8E-810F-01F5-0B804E4067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E0AB96-0B56-68FA-289E-588A6DAD1C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A7CB88-7A96-77DD-18D6-4E01A76A8699}"/>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5" name="Footer Placeholder 4">
            <a:extLst>
              <a:ext uri="{FF2B5EF4-FFF2-40B4-BE49-F238E27FC236}">
                <a16:creationId xmlns:a16="http://schemas.microsoft.com/office/drawing/2014/main" id="{7E4DE4E0-3A38-6E23-547D-543C092ED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60CCB1-0BA8-089F-C90C-41E82399A808}"/>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2369374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A419E7-7877-2139-6496-7499E0BE13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E44BF2-E8B2-5989-2E99-7C2F965CB3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215B52-D794-7386-7265-AABB3B7D315A}"/>
              </a:ext>
            </a:extLst>
          </p:cNvPr>
          <p:cNvSpPr>
            <a:spLocks noGrp="1"/>
          </p:cNvSpPr>
          <p:nvPr>
            <p:ph type="dt" sz="half" idx="10"/>
          </p:nvPr>
        </p:nvSpPr>
        <p:spPr/>
        <p:txBody>
          <a:bodyPr/>
          <a:lstStyle/>
          <a:p>
            <a:fld id="{79F53413-971A-442D-ABAC-9B925CC0CE3C}" type="datetimeFigureOut">
              <a:rPr lang="en-IN" smtClean="0"/>
              <a:t>25-01-2026</a:t>
            </a:fld>
            <a:endParaRPr lang="en-IN"/>
          </a:p>
        </p:txBody>
      </p:sp>
      <p:sp>
        <p:nvSpPr>
          <p:cNvPr id="5" name="Footer Placeholder 4">
            <a:extLst>
              <a:ext uri="{FF2B5EF4-FFF2-40B4-BE49-F238E27FC236}">
                <a16:creationId xmlns:a16="http://schemas.microsoft.com/office/drawing/2014/main" id="{52C8716A-7C6B-46BF-B373-ED2BD2924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B217D-1F84-A96E-33F0-07851EADB4CE}"/>
              </a:ext>
            </a:extLst>
          </p:cNvPr>
          <p:cNvSpPr>
            <a:spLocks noGrp="1"/>
          </p:cNvSpPr>
          <p:nvPr>
            <p:ph type="sldNum" sz="quarter" idx="12"/>
          </p:nvPr>
        </p:nvSpPr>
        <p:spPr/>
        <p:txBody>
          <a:bodyPr/>
          <a:lstStyle/>
          <a:p>
            <a:fld id="{72C2BFE2-6DE6-4F5C-AF15-E011B845CB6F}" type="slidenum">
              <a:rPr lang="en-IN" smtClean="0"/>
              <a:t>‹#›</a:t>
            </a:fld>
            <a:endParaRPr lang="en-IN"/>
          </a:p>
        </p:txBody>
      </p:sp>
    </p:spTree>
    <p:extLst>
      <p:ext uri="{BB962C8B-B14F-4D97-AF65-F5344CB8AC3E}">
        <p14:creationId xmlns:p14="http://schemas.microsoft.com/office/powerpoint/2010/main" val="3867194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CD95B9-5A55-4878-7D21-8F2BB7E6CA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015344-0CB9-1855-294A-55E1A51D5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6B4790-97C0-E5E8-C369-C4691AE061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F53413-971A-442D-ABAC-9B925CC0CE3C}" type="datetimeFigureOut">
              <a:rPr lang="en-IN" smtClean="0"/>
              <a:t>25-01-2026</a:t>
            </a:fld>
            <a:endParaRPr lang="en-IN"/>
          </a:p>
        </p:txBody>
      </p:sp>
      <p:sp>
        <p:nvSpPr>
          <p:cNvPr id="5" name="Footer Placeholder 4">
            <a:extLst>
              <a:ext uri="{FF2B5EF4-FFF2-40B4-BE49-F238E27FC236}">
                <a16:creationId xmlns:a16="http://schemas.microsoft.com/office/drawing/2014/main" id="{5AE83811-925D-07F9-C8E8-199896DFDF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70236A-C515-93C0-A08F-67660FAD06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C2BFE2-6DE6-4F5C-AF15-E011B845CB6F}" type="slidenum">
              <a:rPr lang="en-IN" smtClean="0"/>
              <a:t>‹#›</a:t>
            </a:fld>
            <a:endParaRPr lang="en-IN"/>
          </a:p>
        </p:txBody>
      </p:sp>
    </p:spTree>
    <p:extLst>
      <p:ext uri="{BB962C8B-B14F-4D97-AF65-F5344CB8AC3E}">
        <p14:creationId xmlns:p14="http://schemas.microsoft.com/office/powerpoint/2010/main" val="3109735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5.jpg"/><Relationship Id="rId7"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image" Target="../media/image10.jpg"/><Relationship Id="rId7" Type="http://schemas.openxmlformats.org/officeDocument/2006/relationships/image" Target="../media/image2.jp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10" Type="http://schemas.microsoft.com/office/2007/relationships/hdphoto" Target="../media/hdphoto1.wdp"/><Relationship Id="rId4" Type="http://schemas.openxmlformats.org/officeDocument/2006/relationships/image" Target="../media/image11.jpg"/><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jpg"/><Relationship Id="rId7"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8.jpeg"/><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2.jp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0.jp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7" Type="http://schemas.microsoft.com/office/2007/relationships/hdphoto" Target="../media/hdphoto1.wdp"/><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3.jpg"/><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image" Target="../media/image2.jp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71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9576D-CEF3-7620-A258-E14302BCF436}"/>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3215148" y="121347"/>
            <a:ext cx="6440127" cy="6440127"/>
          </a:xfrm>
          <a:prstGeom prst="rect">
            <a:avLst/>
          </a:prstGeom>
        </p:spPr>
      </p:pic>
      <p:sp>
        <p:nvSpPr>
          <p:cNvPr id="4" name="TextBox 3">
            <a:extLst>
              <a:ext uri="{FF2B5EF4-FFF2-40B4-BE49-F238E27FC236}">
                <a16:creationId xmlns:a16="http://schemas.microsoft.com/office/drawing/2014/main" id="{3221AD6E-2865-D08E-9E74-85478BA06883}"/>
              </a:ext>
            </a:extLst>
          </p:cNvPr>
          <p:cNvSpPr txBox="1"/>
          <p:nvPr/>
        </p:nvSpPr>
        <p:spPr>
          <a:xfrm>
            <a:off x="2875934" y="1224951"/>
            <a:ext cx="6440127" cy="769441"/>
          </a:xfrm>
          <a:prstGeom prst="rect">
            <a:avLst/>
          </a:prstGeom>
          <a:noFill/>
        </p:spPr>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TEAM FALCONS</a:t>
            </a:r>
          </a:p>
        </p:txBody>
      </p:sp>
      <p:pic>
        <p:nvPicPr>
          <p:cNvPr id="6" name="Picture 5">
            <a:extLst>
              <a:ext uri="{FF2B5EF4-FFF2-40B4-BE49-F238E27FC236}">
                <a16:creationId xmlns:a16="http://schemas.microsoft.com/office/drawing/2014/main" id="{1B978ACD-0192-1AD9-5F8C-3D08B008A3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sp>
        <p:nvSpPr>
          <p:cNvPr id="9" name="TextBox 8">
            <a:extLst>
              <a:ext uri="{FF2B5EF4-FFF2-40B4-BE49-F238E27FC236}">
                <a16:creationId xmlns:a16="http://schemas.microsoft.com/office/drawing/2014/main" id="{E3F9F883-E42A-ED92-4435-EE80B1E30877}"/>
              </a:ext>
            </a:extLst>
          </p:cNvPr>
          <p:cNvSpPr txBox="1"/>
          <p:nvPr/>
        </p:nvSpPr>
        <p:spPr>
          <a:xfrm>
            <a:off x="4222953" y="2045109"/>
            <a:ext cx="3746091"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E – KART PRESENTATION</a:t>
            </a:r>
          </a:p>
        </p:txBody>
      </p:sp>
      <p:sp>
        <p:nvSpPr>
          <p:cNvPr id="10" name="TextBox 9">
            <a:extLst>
              <a:ext uri="{FF2B5EF4-FFF2-40B4-BE49-F238E27FC236}">
                <a16:creationId xmlns:a16="http://schemas.microsoft.com/office/drawing/2014/main" id="{2617AF84-D0E0-7B4E-E920-D7FDE70C1248}"/>
              </a:ext>
            </a:extLst>
          </p:cNvPr>
          <p:cNvSpPr txBox="1"/>
          <p:nvPr/>
        </p:nvSpPr>
        <p:spPr>
          <a:xfrm>
            <a:off x="4994786" y="4863608"/>
            <a:ext cx="6941575" cy="1994392"/>
          </a:xfrm>
          <a:prstGeom prst="rect">
            <a:avLst/>
          </a:prstGeom>
          <a:noFill/>
        </p:spPr>
        <p:txBody>
          <a:bodyPr wrap="square" rtlCol="0">
            <a:spAutoFit/>
          </a:bodyPr>
          <a:lstStyle/>
          <a:p>
            <a:pPr algn="just">
              <a:lnSpc>
                <a:spcPct val="150000"/>
              </a:lnSpc>
              <a:spcBef>
                <a:spcPct val="20000"/>
              </a:spcBef>
              <a:defRPr/>
            </a:pPr>
            <a:r>
              <a:rPr lang="en-IN" sz="1600" b="1" dirty="0">
                <a:solidFill>
                  <a:schemeClr val="tx1">
                    <a:lumMod val="75000"/>
                    <a:lumOff val="25000"/>
                  </a:schemeClr>
                </a:solidFill>
                <a:latin typeface="Times New Roman" pitchFamily="18" charset="0"/>
                <a:cs typeface="Times New Roman" pitchFamily="18" charset="0"/>
              </a:rPr>
              <a:t>T</a:t>
            </a:r>
            <a:r>
              <a:rPr lang="en-US" sz="1600" b="1" dirty="0">
                <a:solidFill>
                  <a:schemeClr val="tx1">
                    <a:lumMod val="95000"/>
                    <a:lumOff val="5000"/>
                  </a:schemeClr>
                </a:solidFill>
                <a:latin typeface="Times New Roman" pitchFamily="18" charset="0"/>
                <a:cs typeface="Times New Roman" pitchFamily="18" charset="0"/>
              </a:rPr>
              <a:t>EAM NAME   	     :  TEAM FALCONS     </a:t>
            </a:r>
          </a:p>
          <a:p>
            <a:pPr algn="just">
              <a:lnSpc>
                <a:spcPct val="150000"/>
              </a:lnSpc>
              <a:spcBef>
                <a:spcPct val="20000"/>
              </a:spcBef>
              <a:defRPr/>
            </a:pPr>
            <a:r>
              <a:rPr lang="en-US" sz="1600" b="1" dirty="0">
                <a:solidFill>
                  <a:schemeClr val="tx1">
                    <a:lumMod val="95000"/>
                    <a:lumOff val="5000"/>
                  </a:schemeClr>
                </a:solidFill>
                <a:latin typeface="Times New Roman" pitchFamily="18" charset="0"/>
                <a:cs typeface="Times New Roman" pitchFamily="18" charset="0"/>
              </a:rPr>
              <a:t>TEAM VIN NO	     :   2606EV401 </a:t>
            </a:r>
          </a:p>
          <a:p>
            <a:pPr algn="just">
              <a:lnSpc>
                <a:spcPct val="150000"/>
              </a:lnSpc>
              <a:spcBef>
                <a:spcPct val="20000"/>
              </a:spcBef>
              <a:defRPr/>
            </a:pPr>
            <a:r>
              <a:rPr lang="en-US" sz="1600" b="1" dirty="0">
                <a:solidFill>
                  <a:schemeClr val="tx1">
                    <a:lumMod val="95000"/>
                    <a:lumOff val="5000"/>
                  </a:schemeClr>
                </a:solidFill>
                <a:latin typeface="Times New Roman" pitchFamily="18" charset="0"/>
                <a:cs typeface="Times New Roman" pitchFamily="18" charset="0"/>
              </a:rPr>
              <a:t>COLLEGE NAME        :  KNOWLEDGE INSTITUTE OF TECHNOLOGY</a:t>
            </a:r>
          </a:p>
          <a:p>
            <a:pPr algn="just">
              <a:lnSpc>
                <a:spcPct val="150000"/>
              </a:lnSpc>
              <a:spcBef>
                <a:spcPct val="20000"/>
              </a:spcBef>
              <a:defRPr/>
            </a:pPr>
            <a:r>
              <a:rPr lang="en-US" sz="1600" b="1" dirty="0">
                <a:solidFill>
                  <a:schemeClr val="tx1">
                    <a:lumMod val="95000"/>
                    <a:lumOff val="5000"/>
                  </a:schemeClr>
                </a:solidFill>
                <a:latin typeface="Times New Roman" pitchFamily="18" charset="0"/>
                <a:cs typeface="Times New Roman" pitchFamily="18" charset="0"/>
              </a:rPr>
              <a:t>MOTOR CATEGORY  :  5 KW</a:t>
            </a:r>
          </a:p>
          <a:p>
            <a:endParaRPr lang="en-IN" dirty="0"/>
          </a:p>
        </p:txBody>
      </p:sp>
      <p:pic>
        <p:nvPicPr>
          <p:cNvPr id="2" name="Picture 1">
            <a:extLst>
              <a:ext uri="{FF2B5EF4-FFF2-40B4-BE49-F238E27FC236}">
                <a16:creationId xmlns:a16="http://schemas.microsoft.com/office/drawing/2014/main" id="{C295A4FF-6AFC-EA30-6F94-87D0AA16D562}"/>
              </a:ext>
            </a:extLst>
          </p:cNvPr>
          <p:cNvPicPr>
            <a:picLocks noChangeAspect="1"/>
          </p:cNvPicPr>
          <p:nvPr/>
        </p:nvPicPr>
        <p:blipFill>
          <a:blip r:embed="rId5">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1817685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1073D3-1D9F-86AB-E778-775EFD108ABF}"/>
              </a:ext>
            </a:extLst>
          </p:cNvPr>
          <p:cNvSpPr txBox="1"/>
          <p:nvPr/>
        </p:nvSpPr>
        <p:spPr>
          <a:xfrm>
            <a:off x="4734729" y="75921"/>
            <a:ext cx="2467897" cy="400110"/>
          </a:xfrm>
          <a:prstGeom prst="rect">
            <a:avLst/>
          </a:prstGeom>
          <a:noFill/>
        </p:spPr>
        <p:txBody>
          <a:bodyPr wrap="square" rtlCol="0">
            <a:spAutoFit/>
          </a:bodyPr>
          <a:lstStyle/>
          <a:p>
            <a:pPr algn="ctr"/>
            <a:r>
              <a:rPr lang="en-IN" sz="2000" b="1" dirty="0"/>
              <a:t>TEAM STRUCTURE </a:t>
            </a:r>
          </a:p>
        </p:txBody>
      </p:sp>
      <p:graphicFrame>
        <p:nvGraphicFramePr>
          <p:cNvPr id="8" name="Table 7">
            <a:extLst>
              <a:ext uri="{FF2B5EF4-FFF2-40B4-BE49-F238E27FC236}">
                <a16:creationId xmlns:a16="http://schemas.microsoft.com/office/drawing/2014/main" id="{7FD4A256-B0A9-09A9-1F17-AFF057054BF9}"/>
              </a:ext>
            </a:extLst>
          </p:cNvPr>
          <p:cNvGraphicFramePr>
            <a:graphicFrameLocks noGrp="1"/>
          </p:cNvGraphicFramePr>
          <p:nvPr>
            <p:extLst>
              <p:ext uri="{D42A27DB-BD31-4B8C-83A1-F6EECF244321}">
                <p14:modId xmlns:p14="http://schemas.microsoft.com/office/powerpoint/2010/main" val="2377292541"/>
              </p:ext>
            </p:extLst>
          </p:nvPr>
        </p:nvGraphicFramePr>
        <p:xfrm>
          <a:off x="538543" y="881890"/>
          <a:ext cx="4709651" cy="5758550"/>
        </p:xfrm>
        <a:graphic>
          <a:graphicData uri="http://schemas.openxmlformats.org/drawingml/2006/table">
            <a:tbl>
              <a:tblPr firstRow="1" bandRow="1">
                <a:tableStyleId>{7E9639D4-E3E2-4D34-9284-5A2195B3D0D7}</a:tableStyleId>
              </a:tblPr>
              <a:tblGrid>
                <a:gridCol w="680611">
                  <a:extLst>
                    <a:ext uri="{9D8B030D-6E8A-4147-A177-3AD203B41FA5}">
                      <a16:colId xmlns:a16="http://schemas.microsoft.com/office/drawing/2014/main" val="1510031513"/>
                    </a:ext>
                  </a:extLst>
                </a:gridCol>
                <a:gridCol w="1846279">
                  <a:extLst>
                    <a:ext uri="{9D8B030D-6E8A-4147-A177-3AD203B41FA5}">
                      <a16:colId xmlns:a16="http://schemas.microsoft.com/office/drawing/2014/main" val="2499564607"/>
                    </a:ext>
                  </a:extLst>
                </a:gridCol>
                <a:gridCol w="2182761">
                  <a:extLst>
                    <a:ext uri="{9D8B030D-6E8A-4147-A177-3AD203B41FA5}">
                      <a16:colId xmlns:a16="http://schemas.microsoft.com/office/drawing/2014/main" val="517311951"/>
                    </a:ext>
                  </a:extLst>
                </a:gridCol>
              </a:tblGrid>
              <a:tr h="345026">
                <a:tc>
                  <a:txBody>
                    <a:bodyPr/>
                    <a:lstStyle/>
                    <a:p>
                      <a:pPr algn="ctr"/>
                      <a:r>
                        <a:rPr lang="en-IN" sz="1100" b="0" dirty="0"/>
                        <a:t>S.NO</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NAME</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DESIGNATION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6868406"/>
                  </a:ext>
                </a:extLst>
              </a:tr>
              <a:tr h="382359">
                <a:tc>
                  <a:txBody>
                    <a:bodyPr/>
                    <a:lstStyle/>
                    <a:p>
                      <a:pPr algn="ctr"/>
                      <a:r>
                        <a:rPr lang="en-IN" sz="1100" b="0" dirty="0"/>
                        <a:t>1</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N" sz="1100" b="0" u="none" strike="noStrike" dirty="0">
                          <a:solidFill>
                            <a:srgbClr val="000000"/>
                          </a:solidFill>
                          <a:effectLst/>
                        </a:rPr>
                        <a:t>Gokul Ramana D</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CAPTAIN </a:t>
                      </a:r>
                      <a:endParaRPr lang="en-IN" sz="1100" b="0" dirty="0">
                        <a:latin typeface="Times New Roman" panose="02020603050405020304" pitchFamily="18"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455166"/>
                  </a:ext>
                </a:extLst>
              </a:tr>
              <a:tr h="382359">
                <a:tc>
                  <a:txBody>
                    <a:bodyPr/>
                    <a:lstStyle/>
                    <a:p>
                      <a:pPr algn="ctr"/>
                      <a:r>
                        <a:rPr lang="en-IN" sz="1100" b="0" dirty="0"/>
                        <a:t>2</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N" sz="1100" b="0" u="none" strike="noStrike" dirty="0">
                          <a:solidFill>
                            <a:srgbClr val="000000"/>
                          </a:solidFill>
                          <a:effectLst/>
                        </a:rPr>
                        <a:t>Santhosh G</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VICE CAPTAIN</a:t>
                      </a:r>
                      <a:endParaRPr lang="en-IN" sz="1100" b="0" dirty="0">
                        <a:latin typeface="Times New Roman" panose="02020603050405020304" pitchFamily="18"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5730202"/>
                  </a:ext>
                </a:extLst>
              </a:tr>
              <a:tr h="382359">
                <a:tc>
                  <a:txBody>
                    <a:bodyPr/>
                    <a:lstStyle/>
                    <a:p>
                      <a:pPr algn="ctr"/>
                      <a:r>
                        <a:rPr lang="en-IN" sz="1100" b="0" dirty="0"/>
                        <a:t>3</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N" sz="1100" b="0" u="none" strike="noStrike" dirty="0">
                          <a:solidFill>
                            <a:srgbClr val="000000"/>
                          </a:solidFill>
                          <a:effectLst/>
                        </a:rPr>
                        <a:t>Yogesh</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DRIVER</a:t>
                      </a:r>
                      <a:endParaRPr lang="en-IN" sz="1100" b="0" dirty="0">
                        <a:latin typeface="Times New Roman" panose="02020603050405020304" pitchFamily="18"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825011"/>
                  </a:ext>
                </a:extLst>
              </a:tr>
              <a:tr h="439974">
                <a:tc>
                  <a:txBody>
                    <a:bodyPr/>
                    <a:lstStyle/>
                    <a:p>
                      <a:pPr algn="ctr"/>
                      <a:r>
                        <a:rPr lang="en-IN" sz="1100" b="0" dirty="0"/>
                        <a:t>4</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0" u="none" strike="noStrike" dirty="0">
                          <a:solidFill>
                            <a:srgbClr val="000000"/>
                          </a:solidFill>
                          <a:effectLst/>
                        </a:rPr>
                        <a:t>Santhosh G</a:t>
                      </a:r>
                    </a:p>
                    <a:p>
                      <a:pPr algn="ct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DRIVER </a:t>
                      </a:r>
                      <a:endParaRPr lang="en-IN" sz="1100" b="0" dirty="0">
                        <a:latin typeface="Times New Roman" panose="02020603050405020304" pitchFamily="18"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690804"/>
                  </a:ext>
                </a:extLst>
              </a:tr>
              <a:tr h="382359">
                <a:tc>
                  <a:txBody>
                    <a:bodyPr/>
                    <a:lstStyle/>
                    <a:p>
                      <a:pPr algn="ctr"/>
                      <a:r>
                        <a:rPr lang="en-IN" sz="1100" b="0" dirty="0"/>
                        <a:t>5</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Bhuvanan M</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0" dirty="0"/>
                        <a:t>DESIGN HEAD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3285895"/>
                  </a:ext>
                </a:extLst>
              </a:tr>
              <a:tr h="382359">
                <a:tc>
                  <a:txBody>
                    <a:bodyPr/>
                    <a:lstStyle/>
                    <a:p>
                      <a:pPr algn="ctr"/>
                      <a:r>
                        <a:rPr lang="en-IN" sz="1100" b="0" dirty="0"/>
                        <a:t>6</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Palaniyappan A</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DESIGN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9215490"/>
                  </a:ext>
                </a:extLst>
              </a:tr>
              <a:tr h="382359">
                <a:tc>
                  <a:txBody>
                    <a:bodyPr/>
                    <a:lstStyle/>
                    <a:p>
                      <a:pPr algn="ctr"/>
                      <a:r>
                        <a:rPr lang="en-IN" sz="1100" b="0" dirty="0"/>
                        <a:t>7</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Santhosh G</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DESIGN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9043828"/>
                  </a:ext>
                </a:extLst>
              </a:tr>
              <a:tr h="382359">
                <a:tc>
                  <a:txBody>
                    <a:bodyPr/>
                    <a:lstStyle/>
                    <a:p>
                      <a:pPr algn="ctr"/>
                      <a:r>
                        <a:rPr lang="en-IN" sz="1100" b="0" dirty="0"/>
                        <a:t>8</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Logeshwaran K</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DESIGN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4236399"/>
                  </a:ext>
                </a:extLst>
              </a:tr>
              <a:tr h="382359">
                <a:tc>
                  <a:txBody>
                    <a:bodyPr/>
                    <a:lstStyle/>
                    <a:p>
                      <a:pPr algn="ctr"/>
                      <a:r>
                        <a:rPr lang="en-IN" sz="1100" b="0" dirty="0"/>
                        <a:t>9</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Goutham S</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DESIGN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6882675"/>
                  </a:ext>
                </a:extLst>
              </a:tr>
              <a:tr h="382359">
                <a:tc>
                  <a:txBody>
                    <a:bodyPr/>
                    <a:lstStyle/>
                    <a:p>
                      <a:pPr algn="ctr"/>
                      <a:r>
                        <a:rPr lang="en-IN" sz="1100" b="0" dirty="0"/>
                        <a:t>10</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Aravinth R</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FABRICATION HEAD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734001"/>
                  </a:ext>
                </a:extLst>
              </a:tr>
              <a:tr h="382359">
                <a:tc>
                  <a:txBody>
                    <a:bodyPr/>
                    <a:lstStyle/>
                    <a:p>
                      <a:pPr algn="ctr"/>
                      <a:r>
                        <a:rPr lang="en-IN" sz="1100" b="0" dirty="0"/>
                        <a:t>11</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Santhosh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FABRICATION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8714818"/>
                  </a:ext>
                </a:extLst>
              </a:tr>
              <a:tr h="382359">
                <a:tc>
                  <a:txBody>
                    <a:bodyPr/>
                    <a:lstStyle/>
                    <a:p>
                      <a:pPr algn="ctr"/>
                      <a:r>
                        <a:rPr lang="en-IN" sz="1100" b="0" dirty="0"/>
                        <a:t>12</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Mahesh raj</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0" dirty="0"/>
                        <a:t>FABRICATION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0472200"/>
                  </a:ext>
                </a:extLst>
              </a:tr>
              <a:tr h="382359">
                <a:tc>
                  <a:txBody>
                    <a:bodyPr/>
                    <a:lstStyle/>
                    <a:p>
                      <a:pPr algn="ctr"/>
                      <a:r>
                        <a:rPr lang="en-IN" sz="1100" b="0" dirty="0"/>
                        <a:t>13</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Dharanesh</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0" dirty="0"/>
                        <a:t>FABRICATION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1450596"/>
                  </a:ext>
                </a:extLst>
              </a:tr>
              <a:tr h="385242">
                <a:tc>
                  <a:txBody>
                    <a:bodyPr/>
                    <a:lstStyle/>
                    <a:p>
                      <a:pPr algn="ctr"/>
                      <a:r>
                        <a:rPr lang="en-IN" sz="1100" b="0" dirty="0"/>
                        <a:t>14</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Kanishkar E</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0" dirty="0"/>
                        <a:t>FABRICATION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9410154"/>
                  </a:ext>
                </a:extLst>
              </a:tr>
            </a:tbl>
          </a:graphicData>
        </a:graphic>
      </p:graphicFrame>
      <p:pic>
        <p:nvPicPr>
          <p:cNvPr id="2" name="Picture 1">
            <a:extLst>
              <a:ext uri="{FF2B5EF4-FFF2-40B4-BE49-F238E27FC236}">
                <a16:creationId xmlns:a16="http://schemas.microsoft.com/office/drawing/2014/main" id="{9EFB0EBA-ACBF-ED20-2DAC-130F122A35A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graphicFrame>
        <p:nvGraphicFramePr>
          <p:cNvPr id="3" name="Table 2">
            <a:extLst>
              <a:ext uri="{FF2B5EF4-FFF2-40B4-BE49-F238E27FC236}">
                <a16:creationId xmlns:a16="http://schemas.microsoft.com/office/drawing/2014/main" id="{870CD9AD-BAC5-F96C-B443-5C98E3B77B25}"/>
              </a:ext>
            </a:extLst>
          </p:cNvPr>
          <p:cNvGraphicFramePr>
            <a:graphicFrameLocks noGrp="1"/>
          </p:cNvGraphicFramePr>
          <p:nvPr>
            <p:extLst>
              <p:ext uri="{D42A27DB-BD31-4B8C-83A1-F6EECF244321}">
                <p14:modId xmlns:p14="http://schemas.microsoft.com/office/powerpoint/2010/main" val="3942870259"/>
              </p:ext>
            </p:extLst>
          </p:nvPr>
        </p:nvGraphicFramePr>
        <p:xfrm>
          <a:off x="5968677" y="868271"/>
          <a:ext cx="5148406" cy="5785788"/>
        </p:xfrm>
        <a:graphic>
          <a:graphicData uri="http://schemas.openxmlformats.org/drawingml/2006/table">
            <a:tbl>
              <a:tblPr firstRow="1" bandRow="1">
                <a:tableStyleId>{2D5ABB26-0587-4C30-8999-92F81FD0307C}</a:tableStyleId>
              </a:tblPr>
              <a:tblGrid>
                <a:gridCol w="1076351">
                  <a:extLst>
                    <a:ext uri="{9D8B030D-6E8A-4147-A177-3AD203B41FA5}">
                      <a16:colId xmlns:a16="http://schemas.microsoft.com/office/drawing/2014/main" val="529200697"/>
                    </a:ext>
                  </a:extLst>
                </a:gridCol>
                <a:gridCol w="2355920">
                  <a:extLst>
                    <a:ext uri="{9D8B030D-6E8A-4147-A177-3AD203B41FA5}">
                      <a16:colId xmlns:a16="http://schemas.microsoft.com/office/drawing/2014/main" val="2313117259"/>
                    </a:ext>
                  </a:extLst>
                </a:gridCol>
                <a:gridCol w="1716135">
                  <a:extLst>
                    <a:ext uri="{9D8B030D-6E8A-4147-A177-3AD203B41FA5}">
                      <a16:colId xmlns:a16="http://schemas.microsoft.com/office/drawing/2014/main" val="1247594631"/>
                    </a:ext>
                  </a:extLst>
                </a:gridCol>
              </a:tblGrid>
              <a:tr h="339909">
                <a:tc>
                  <a:txBody>
                    <a:bodyPr/>
                    <a:lstStyle/>
                    <a:p>
                      <a:pPr algn="ctr"/>
                      <a:r>
                        <a:rPr lang="en-IN" sz="1100" b="0" dirty="0"/>
                        <a:t>15</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Aswin j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BRAKING HEAD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09664"/>
                  </a:ext>
                </a:extLst>
              </a:tr>
              <a:tr h="339909">
                <a:tc>
                  <a:txBody>
                    <a:bodyPr/>
                    <a:lstStyle/>
                    <a:p>
                      <a:pPr algn="ctr"/>
                      <a:r>
                        <a:rPr lang="en-IN" sz="1100" b="0" dirty="0"/>
                        <a:t>16</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Dheepak S</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BRAKING</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7552340"/>
                  </a:ext>
                </a:extLst>
              </a:tr>
              <a:tr h="339909">
                <a:tc>
                  <a:txBody>
                    <a:bodyPr/>
                    <a:lstStyle/>
                    <a:p>
                      <a:pPr algn="ctr"/>
                      <a:r>
                        <a:rPr lang="en-IN" sz="1100" b="0" dirty="0"/>
                        <a:t>17</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Mohanraj</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BRAKING</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0286604"/>
                  </a:ext>
                </a:extLst>
              </a:tr>
              <a:tr h="339909">
                <a:tc>
                  <a:txBody>
                    <a:bodyPr/>
                    <a:lstStyle/>
                    <a:p>
                      <a:pPr algn="ctr"/>
                      <a:r>
                        <a:rPr lang="en-IN" sz="1100" b="0" dirty="0"/>
                        <a:t>18</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Vishal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STEERING &amp;WHEEL HEAD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5290662"/>
                  </a:ext>
                </a:extLst>
              </a:tr>
              <a:tr h="339909">
                <a:tc>
                  <a:txBody>
                    <a:bodyPr/>
                    <a:lstStyle/>
                    <a:p>
                      <a:pPr algn="ctr"/>
                      <a:r>
                        <a:rPr lang="en-IN" sz="1100" b="0" dirty="0"/>
                        <a:t>19</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Vishnuvarathan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STEERING &amp;WHEEL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2376844"/>
                  </a:ext>
                </a:extLst>
              </a:tr>
              <a:tr h="339909">
                <a:tc>
                  <a:txBody>
                    <a:bodyPr/>
                    <a:lstStyle/>
                    <a:p>
                      <a:pPr algn="ctr"/>
                      <a:r>
                        <a:rPr lang="en-IN" sz="1100" b="0" dirty="0"/>
                        <a:t>20</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Surya K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STEERING &amp;WHEEL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19068"/>
                  </a:ext>
                </a:extLst>
              </a:tr>
              <a:tr h="391128">
                <a:tc>
                  <a:txBody>
                    <a:bodyPr/>
                    <a:lstStyle/>
                    <a:p>
                      <a:pPr algn="ctr"/>
                      <a:r>
                        <a:rPr lang="en-IN" sz="1100" b="0" dirty="0"/>
                        <a:t>21</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Jagadeeswaran K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Electrical &amp; Transmission Head</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309101"/>
                  </a:ext>
                </a:extLst>
              </a:tr>
              <a:tr h="339909">
                <a:tc>
                  <a:txBody>
                    <a:bodyPr/>
                    <a:lstStyle/>
                    <a:p>
                      <a:pPr algn="ctr"/>
                      <a:r>
                        <a:rPr lang="en-IN" sz="1100" b="0" dirty="0"/>
                        <a:t>22</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Dravid M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Electrical &amp; Transmission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669278"/>
                  </a:ext>
                </a:extLst>
              </a:tr>
              <a:tr h="339909">
                <a:tc>
                  <a:txBody>
                    <a:bodyPr/>
                    <a:lstStyle/>
                    <a:p>
                      <a:pPr algn="ctr"/>
                      <a:r>
                        <a:rPr lang="en-IN" sz="1100" b="0" dirty="0"/>
                        <a:t>23</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Meiguru Prasath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Electrical &amp; Transmission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2718920"/>
                  </a:ext>
                </a:extLst>
              </a:tr>
              <a:tr h="391128">
                <a:tc>
                  <a:txBody>
                    <a:bodyPr/>
                    <a:lstStyle/>
                    <a:p>
                      <a:pPr algn="ctr"/>
                      <a:r>
                        <a:rPr lang="en-IN" sz="1100" b="0" dirty="0"/>
                        <a:t>24</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Santhosh R</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dirty="0"/>
                        <a:t>Driver Percy, Ergonomics&amp; Aesthetic Head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7586961"/>
                  </a:ext>
                </a:extLst>
              </a:tr>
              <a:tr h="391128">
                <a:tc>
                  <a:txBody>
                    <a:bodyPr/>
                    <a:lstStyle/>
                    <a:p>
                      <a:pPr algn="ctr"/>
                      <a:r>
                        <a:rPr lang="en-IN" sz="1100" b="0" dirty="0"/>
                        <a:t>25</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Santhosh S</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dirty="0"/>
                        <a:t>Driver Percy, Ergonomics&amp; Aesthetic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6857322"/>
                  </a:ext>
                </a:extLst>
              </a:tr>
              <a:tr h="391128">
                <a:tc>
                  <a:txBody>
                    <a:bodyPr/>
                    <a:lstStyle/>
                    <a:p>
                      <a:pPr algn="ctr"/>
                      <a:r>
                        <a:rPr lang="en-IN" sz="1100" b="0" dirty="0"/>
                        <a:t>26</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Arjun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dirty="0"/>
                        <a:t>Driver Percy, Ergonomics&amp; Aesthetic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10941"/>
                  </a:ext>
                </a:extLst>
              </a:tr>
              <a:tr h="339909">
                <a:tc>
                  <a:txBody>
                    <a:bodyPr/>
                    <a:lstStyle/>
                    <a:p>
                      <a:pPr algn="ctr"/>
                      <a:r>
                        <a:rPr lang="en-IN" sz="1100" b="0" dirty="0"/>
                        <a:t>27</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Gowrishankar T</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Innovation Head</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132171"/>
                  </a:ext>
                </a:extLst>
              </a:tr>
              <a:tr h="339909">
                <a:tc>
                  <a:txBody>
                    <a:bodyPr/>
                    <a:lstStyle/>
                    <a:p>
                      <a:pPr algn="ctr"/>
                      <a:r>
                        <a:rPr lang="en-IN" sz="1100" b="0" dirty="0"/>
                        <a:t>28</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Pragadeesh A</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Innovation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5501045"/>
                  </a:ext>
                </a:extLst>
              </a:tr>
              <a:tr h="339909">
                <a:tc>
                  <a:txBody>
                    <a:bodyPr/>
                    <a:lstStyle/>
                    <a:p>
                      <a:pPr algn="ctr"/>
                      <a:r>
                        <a:rPr lang="en-IN" sz="1100" b="0" dirty="0"/>
                        <a:t>29</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Praveenraj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Innovation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5108000"/>
                  </a:ext>
                </a:extLst>
              </a:tr>
              <a:tr h="339909">
                <a:tc>
                  <a:txBody>
                    <a:bodyPr/>
                    <a:lstStyle/>
                    <a:p>
                      <a:pPr algn="ctr"/>
                      <a:r>
                        <a:rPr lang="en-IN" sz="1100" b="0" dirty="0"/>
                        <a:t>30</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Kishor S </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0" dirty="0"/>
                        <a:t>Innovation</a:t>
                      </a:r>
                      <a:endParaRPr lang="en-IN" sz="11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5417230"/>
                  </a:ext>
                </a:extLst>
              </a:tr>
            </a:tbl>
          </a:graphicData>
        </a:graphic>
      </p:graphicFrame>
    </p:spTree>
    <p:extLst>
      <p:ext uri="{BB962C8B-B14F-4D97-AF65-F5344CB8AC3E}">
        <p14:creationId xmlns:p14="http://schemas.microsoft.com/office/powerpoint/2010/main" val="4158682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44D4237-8815-75E7-9940-A3A0A7CCE462}"/>
              </a:ext>
            </a:extLst>
          </p:cNvPr>
          <p:cNvSpPr/>
          <p:nvPr/>
        </p:nvSpPr>
        <p:spPr>
          <a:xfrm>
            <a:off x="463345" y="1244626"/>
            <a:ext cx="11283008" cy="4988534"/>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7808472-F9FB-516A-4A1E-FB044D84ED23}"/>
              </a:ext>
            </a:extLst>
          </p:cNvPr>
          <p:cNvSpPr txBox="1"/>
          <p:nvPr/>
        </p:nvSpPr>
        <p:spPr>
          <a:xfrm>
            <a:off x="5263945" y="202846"/>
            <a:ext cx="166411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7890038C-6605-B8BF-F827-B91E30767B69}"/>
              </a:ext>
            </a:extLst>
          </p:cNvPr>
          <p:cNvSpPr txBox="1"/>
          <p:nvPr/>
        </p:nvSpPr>
        <p:spPr>
          <a:xfrm>
            <a:off x="1372583" y="1637452"/>
            <a:ext cx="9202994" cy="4202882"/>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objective of this project is to design, fabricate, and successfully implement an electric go-kart powered by an efficient electric drive system. The project aims to analyze and understand the fundamentals of electric vehicle technology, including energy storage, power management, and motor control. Special emphasis is given to chassis design, weight distribution, braking efficiency, and driver safety to ensure stable and reliable performance. The project also focuses on optimizing energy consumption to improve range and efficiency under practical operating conditions. Through this work, technical skills related to mechanical fabrication, electrical wiring, component integration, and system testing are enhanced. Additionally, the project promotes innovation, teamwork, and problem-solving abilities while supporting the development of sustainable, low-emission transportation solutions.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999CC55-603E-BED2-88D8-C1B919880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8" name="Picture 7">
            <a:extLst>
              <a:ext uri="{FF2B5EF4-FFF2-40B4-BE49-F238E27FC236}">
                <a16:creationId xmlns:a16="http://schemas.microsoft.com/office/drawing/2014/main" id="{28689998-A6D5-EB9B-B474-A3911162FFC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3716407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0FB541C-99CE-F05B-55FC-5C675B096DE4}"/>
              </a:ext>
            </a:extLst>
          </p:cNvPr>
          <p:cNvSpPr/>
          <p:nvPr/>
        </p:nvSpPr>
        <p:spPr>
          <a:xfrm>
            <a:off x="172063" y="1103756"/>
            <a:ext cx="6685937" cy="5449444"/>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7A2FEEC-F35A-062A-151D-DF15409E17BD}"/>
              </a:ext>
            </a:extLst>
          </p:cNvPr>
          <p:cNvSpPr txBox="1"/>
          <p:nvPr/>
        </p:nvSpPr>
        <p:spPr>
          <a:xfrm>
            <a:off x="3446207" y="304800"/>
            <a:ext cx="5299586"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CHASIS MATERIAL &amp; TESTING REPORT</a:t>
            </a:r>
          </a:p>
        </p:txBody>
      </p:sp>
      <p:pic>
        <p:nvPicPr>
          <p:cNvPr id="5" name="Picture 4">
            <a:extLst>
              <a:ext uri="{FF2B5EF4-FFF2-40B4-BE49-F238E27FC236}">
                <a16:creationId xmlns:a16="http://schemas.microsoft.com/office/drawing/2014/main" id="{D0469136-07C3-4CF3-BB05-28EA0078D4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sp>
        <p:nvSpPr>
          <p:cNvPr id="8" name="TextBox 7">
            <a:extLst>
              <a:ext uri="{FF2B5EF4-FFF2-40B4-BE49-F238E27FC236}">
                <a16:creationId xmlns:a16="http://schemas.microsoft.com/office/drawing/2014/main" id="{76F20D2D-22CC-52EC-7B5D-F907EB75681C}"/>
              </a:ext>
            </a:extLst>
          </p:cNvPr>
          <p:cNvSpPr txBox="1"/>
          <p:nvPr/>
        </p:nvSpPr>
        <p:spPr>
          <a:xfrm>
            <a:off x="457199" y="1611049"/>
            <a:ext cx="247772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CHASIS MATERIAL:</a:t>
            </a:r>
          </a:p>
        </p:txBody>
      </p:sp>
      <p:sp>
        <p:nvSpPr>
          <p:cNvPr id="9" name="TextBox 8">
            <a:extLst>
              <a:ext uri="{FF2B5EF4-FFF2-40B4-BE49-F238E27FC236}">
                <a16:creationId xmlns:a16="http://schemas.microsoft.com/office/drawing/2014/main" id="{65675240-B656-7F15-AE2B-462E7389D7C6}"/>
              </a:ext>
            </a:extLst>
          </p:cNvPr>
          <p:cNvSpPr txBox="1"/>
          <p:nvPr/>
        </p:nvSpPr>
        <p:spPr>
          <a:xfrm>
            <a:off x="914400" y="1980381"/>
            <a:ext cx="3308555" cy="128907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Material grade    : AISI 4130</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Outer diameter   : 25.4 mm</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Thickness             :1.6 mm</a:t>
            </a:r>
          </a:p>
        </p:txBody>
      </p:sp>
      <p:sp>
        <p:nvSpPr>
          <p:cNvPr id="10" name="TextBox 9">
            <a:extLst>
              <a:ext uri="{FF2B5EF4-FFF2-40B4-BE49-F238E27FC236}">
                <a16:creationId xmlns:a16="http://schemas.microsoft.com/office/drawing/2014/main" id="{E4DD81CC-6C5D-2A4B-567C-AE472E7DDC4F}"/>
              </a:ext>
            </a:extLst>
          </p:cNvPr>
          <p:cNvSpPr txBox="1"/>
          <p:nvPr/>
        </p:nvSpPr>
        <p:spPr>
          <a:xfrm>
            <a:off x="457198" y="3511196"/>
            <a:ext cx="2477729" cy="369332"/>
          </a:xfrm>
          <a:prstGeom prst="rect">
            <a:avLst/>
          </a:prstGeom>
          <a:noFill/>
        </p:spPr>
        <p:txBody>
          <a:bodyPr wrap="square" rtlCol="0">
            <a:spAutoFit/>
          </a:bodyPr>
          <a:lstStyle/>
          <a:p>
            <a:r>
              <a:rPr lang="en-IN" b="1" dirty="0"/>
              <a:t>MATERIAL PROPERTIES:</a:t>
            </a:r>
          </a:p>
        </p:txBody>
      </p:sp>
      <p:sp>
        <p:nvSpPr>
          <p:cNvPr id="11" name="TextBox 10">
            <a:extLst>
              <a:ext uri="{FF2B5EF4-FFF2-40B4-BE49-F238E27FC236}">
                <a16:creationId xmlns:a16="http://schemas.microsoft.com/office/drawing/2014/main" id="{8772B020-05B6-28E4-DABA-B2A4F4DF6CB2}"/>
              </a:ext>
            </a:extLst>
          </p:cNvPr>
          <p:cNvSpPr txBox="1"/>
          <p:nvPr/>
        </p:nvSpPr>
        <p:spPr>
          <a:xfrm>
            <a:off x="828365" y="3880528"/>
            <a:ext cx="4463846" cy="21200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Density                                 : 7850 kg/m</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Young’s modulus                  : 205 gpa</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Poisson’s Ratio                     : 0.29</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Yeild strength                        : 435 Mpa</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Ultimate Tensile Strength     : 560 Mpa</a:t>
            </a:r>
          </a:p>
        </p:txBody>
      </p:sp>
      <p:pic>
        <p:nvPicPr>
          <p:cNvPr id="2" name="Picture 1">
            <a:extLst>
              <a:ext uri="{FF2B5EF4-FFF2-40B4-BE49-F238E27FC236}">
                <a16:creationId xmlns:a16="http://schemas.microsoft.com/office/drawing/2014/main" id="{94ED517C-5AB2-63FA-FA7F-67D6C6BDE72C}"/>
              </a:ext>
            </a:extLst>
          </p:cNvPr>
          <p:cNvPicPr>
            <a:picLocks noChangeAspect="1"/>
          </p:cNvPicPr>
          <p:nvPr/>
        </p:nvPicPr>
        <p:blipFill>
          <a:blip r:embed="rId4"/>
          <a:stretch>
            <a:fillRect/>
          </a:stretch>
        </p:blipFill>
        <p:spPr>
          <a:xfrm>
            <a:off x="7315201" y="1038584"/>
            <a:ext cx="3962397" cy="553118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6" name="Picture 5">
            <a:extLst>
              <a:ext uri="{FF2B5EF4-FFF2-40B4-BE49-F238E27FC236}">
                <a16:creationId xmlns:a16="http://schemas.microsoft.com/office/drawing/2014/main" id="{A7BE7056-3885-642F-93AE-CB83B18FF9A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1876681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EDBE09F-AE5F-5C94-C65F-625B1B137105}"/>
              </a:ext>
            </a:extLst>
          </p:cNvPr>
          <p:cNvSpPr/>
          <p:nvPr/>
        </p:nvSpPr>
        <p:spPr>
          <a:xfrm>
            <a:off x="172064" y="1103756"/>
            <a:ext cx="7074310" cy="5097859"/>
          </a:xfrm>
          <a:prstGeom prst="roundRect">
            <a:avLst>
              <a:gd name="adj" fmla="val 7988"/>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33F53BB-0D92-9147-3ADB-5BB887357788}"/>
              </a:ext>
            </a:extLst>
          </p:cNvPr>
          <p:cNvSpPr txBox="1"/>
          <p:nvPr/>
        </p:nvSpPr>
        <p:spPr>
          <a:xfrm>
            <a:off x="4055806" y="363795"/>
            <a:ext cx="4080387"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DESIGN METHODOLOGY</a:t>
            </a:r>
          </a:p>
        </p:txBody>
      </p:sp>
      <p:pic>
        <p:nvPicPr>
          <p:cNvPr id="5" name="Picture 4">
            <a:extLst>
              <a:ext uri="{FF2B5EF4-FFF2-40B4-BE49-F238E27FC236}">
                <a16:creationId xmlns:a16="http://schemas.microsoft.com/office/drawing/2014/main" id="{7C1F144D-D72A-3FD5-8963-8157CA273A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16" name="Picture 15">
            <a:extLst>
              <a:ext uri="{FF2B5EF4-FFF2-40B4-BE49-F238E27FC236}">
                <a16:creationId xmlns:a16="http://schemas.microsoft.com/office/drawing/2014/main" id="{616E7FEB-2E68-CE3D-EF22-422AFA08E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843" y="3870509"/>
            <a:ext cx="2438036" cy="204084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3" name="Picture 2">
            <a:extLst>
              <a:ext uri="{FF2B5EF4-FFF2-40B4-BE49-F238E27FC236}">
                <a16:creationId xmlns:a16="http://schemas.microsoft.com/office/drawing/2014/main" id="{22364C30-943E-4DB5-6C9F-B17502665089}"/>
              </a:ext>
            </a:extLst>
          </p:cNvPr>
          <p:cNvPicPr>
            <a:picLocks noChangeAspect="1"/>
          </p:cNvPicPr>
          <p:nvPr/>
        </p:nvPicPr>
        <p:blipFill>
          <a:blip r:embed="rId4"/>
          <a:stretch>
            <a:fillRect/>
          </a:stretch>
        </p:blipFill>
        <p:spPr>
          <a:xfrm>
            <a:off x="4153685" y="1251417"/>
            <a:ext cx="2438036" cy="208106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2" name="Picture 11">
            <a:extLst>
              <a:ext uri="{FF2B5EF4-FFF2-40B4-BE49-F238E27FC236}">
                <a16:creationId xmlns:a16="http://schemas.microsoft.com/office/drawing/2014/main" id="{044FE539-F7FA-E93C-D071-87BA25739EE0}"/>
              </a:ext>
            </a:extLst>
          </p:cNvPr>
          <p:cNvPicPr>
            <a:picLocks noChangeAspect="1"/>
          </p:cNvPicPr>
          <p:nvPr/>
        </p:nvPicPr>
        <p:blipFill>
          <a:blip r:embed="rId5">
            <a:extLst>
              <a:ext uri="{28A0092B-C50C-407E-A947-70E740481C1C}">
                <a14:useLocalDpi xmlns:a14="http://schemas.microsoft.com/office/drawing/2010/main" val="0"/>
              </a:ext>
            </a:extLst>
          </a:blip>
          <a:srcRect t="22547"/>
          <a:stretch>
            <a:fillRect/>
          </a:stretch>
        </p:blipFill>
        <p:spPr>
          <a:xfrm>
            <a:off x="533609" y="1271409"/>
            <a:ext cx="2445592" cy="2104199"/>
          </a:xfrm>
          <a:prstGeom prst="rect">
            <a:avLst/>
          </a:prstGeom>
        </p:spPr>
      </p:pic>
      <p:pic>
        <p:nvPicPr>
          <p:cNvPr id="14" name="Picture 13">
            <a:extLst>
              <a:ext uri="{FF2B5EF4-FFF2-40B4-BE49-F238E27FC236}">
                <a16:creationId xmlns:a16="http://schemas.microsoft.com/office/drawing/2014/main" id="{6B926556-EF54-2629-5C1E-9377D286BC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3685" y="3927510"/>
            <a:ext cx="2474372" cy="2081061"/>
          </a:xfrm>
          <a:prstGeom prst="rect">
            <a:avLst/>
          </a:prstGeom>
          <a:effectLst>
            <a:softEdge rad="31750"/>
          </a:effectLst>
        </p:spPr>
      </p:pic>
      <p:sp>
        <p:nvSpPr>
          <p:cNvPr id="20" name="Arrow: Right 19">
            <a:extLst>
              <a:ext uri="{FF2B5EF4-FFF2-40B4-BE49-F238E27FC236}">
                <a16:creationId xmlns:a16="http://schemas.microsoft.com/office/drawing/2014/main" id="{790C18E2-1CD5-2F54-238C-2479423D6809}"/>
              </a:ext>
            </a:extLst>
          </p:cNvPr>
          <p:cNvSpPr/>
          <p:nvPr/>
        </p:nvSpPr>
        <p:spPr>
          <a:xfrm>
            <a:off x="3195484" y="2326759"/>
            <a:ext cx="580103" cy="3425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42B5F60D-94E8-3D9E-C22B-CA6BFC0E058E}"/>
              </a:ext>
            </a:extLst>
          </p:cNvPr>
          <p:cNvSpPr/>
          <p:nvPr/>
        </p:nvSpPr>
        <p:spPr>
          <a:xfrm>
            <a:off x="5220929" y="3429000"/>
            <a:ext cx="353961" cy="4985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0599759F-0A23-C693-850F-0F23F6BACFFF}"/>
              </a:ext>
            </a:extLst>
          </p:cNvPr>
          <p:cNvSpPr/>
          <p:nvPr/>
        </p:nvSpPr>
        <p:spPr>
          <a:xfrm>
            <a:off x="7821301" y="1103755"/>
            <a:ext cx="3837090" cy="5097859"/>
          </a:xfrm>
          <a:prstGeom prst="roundRect">
            <a:avLst>
              <a:gd name="adj" fmla="val 10807"/>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Arrow: Right 23">
            <a:extLst>
              <a:ext uri="{FF2B5EF4-FFF2-40B4-BE49-F238E27FC236}">
                <a16:creationId xmlns:a16="http://schemas.microsoft.com/office/drawing/2014/main" id="{12E85FE5-63FD-0822-E3D1-F05C8D458C9E}"/>
              </a:ext>
            </a:extLst>
          </p:cNvPr>
          <p:cNvSpPr/>
          <p:nvPr/>
        </p:nvSpPr>
        <p:spPr>
          <a:xfrm flipH="1">
            <a:off x="3195484" y="4719634"/>
            <a:ext cx="580103" cy="3425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4">
            <a:extLst>
              <a:ext uri="{FF2B5EF4-FFF2-40B4-BE49-F238E27FC236}">
                <a16:creationId xmlns:a16="http://schemas.microsoft.com/office/drawing/2014/main" id="{A433212B-FB15-FAE1-A3EC-7CFED735121F}"/>
              </a:ext>
            </a:extLst>
          </p:cNvPr>
          <p:cNvSpPr>
            <a:spLocks noChangeArrowheads="1"/>
          </p:cNvSpPr>
          <p:nvPr/>
        </p:nvSpPr>
        <p:spPr bwMode="auto">
          <a:xfrm>
            <a:off x="8136193" y="2323508"/>
            <a:ext cx="334137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3D chassis model was designed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SolidWorks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Structural analysis was performed 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ANSYS Workbench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verify strength and deformation.</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optimized design was finalized for assembly and fabrication.</a:t>
            </a:r>
          </a:p>
        </p:txBody>
      </p:sp>
      <p:sp>
        <p:nvSpPr>
          <p:cNvPr id="34" name="Rectangle 5">
            <a:extLst>
              <a:ext uri="{FF2B5EF4-FFF2-40B4-BE49-F238E27FC236}">
                <a16:creationId xmlns:a16="http://schemas.microsoft.com/office/drawing/2014/main" id="{EDCC1416-965F-5F72-5951-8B221E43FC3F}"/>
              </a:ext>
            </a:extLst>
          </p:cNvPr>
          <p:cNvSpPr>
            <a:spLocks noChangeArrowheads="1"/>
          </p:cNvSpPr>
          <p:nvPr/>
        </p:nvSpPr>
        <p:spPr bwMode="auto">
          <a:xfrm>
            <a:off x="8195234" y="1336558"/>
            <a:ext cx="33142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Vehicle requirements were studied and the initial chassis layout was prepared using hand sketches.</a:t>
            </a:r>
          </a:p>
        </p:txBody>
      </p:sp>
      <p:pic>
        <p:nvPicPr>
          <p:cNvPr id="2" name="Picture 1">
            <a:extLst>
              <a:ext uri="{FF2B5EF4-FFF2-40B4-BE49-F238E27FC236}">
                <a16:creationId xmlns:a16="http://schemas.microsoft.com/office/drawing/2014/main" id="{B92EBF51-90CE-609B-4BD6-E85FEF395E5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1876468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FDD6F34-82A5-1116-F641-05146A21ECA6}"/>
              </a:ext>
            </a:extLst>
          </p:cNvPr>
          <p:cNvSpPr/>
          <p:nvPr/>
        </p:nvSpPr>
        <p:spPr>
          <a:xfrm>
            <a:off x="172064" y="986240"/>
            <a:ext cx="11847871" cy="5686455"/>
          </a:xfrm>
          <a:prstGeom prst="roundRect">
            <a:avLst>
              <a:gd name="adj" fmla="val 6490"/>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FF9F7F6-EAD0-8AF0-CFCB-553E478842FD}"/>
              </a:ext>
            </a:extLst>
          </p:cNvPr>
          <p:cNvSpPr txBox="1"/>
          <p:nvPr/>
        </p:nvSpPr>
        <p:spPr>
          <a:xfrm>
            <a:off x="4842387" y="257145"/>
            <a:ext cx="2507226" cy="400110"/>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VECHICLE VIEWS </a:t>
            </a:r>
          </a:p>
        </p:txBody>
      </p:sp>
      <p:sp>
        <p:nvSpPr>
          <p:cNvPr id="5" name="TextBox 4">
            <a:extLst>
              <a:ext uri="{FF2B5EF4-FFF2-40B4-BE49-F238E27FC236}">
                <a16:creationId xmlns:a16="http://schemas.microsoft.com/office/drawing/2014/main" id="{6FBA93F5-6F3F-ED34-2E04-FB615594DEDB}"/>
              </a:ext>
            </a:extLst>
          </p:cNvPr>
          <p:cNvSpPr txBox="1"/>
          <p:nvPr/>
        </p:nvSpPr>
        <p:spPr>
          <a:xfrm>
            <a:off x="1042764" y="2952080"/>
            <a:ext cx="1651819"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FRONT VIEW</a:t>
            </a:r>
          </a:p>
        </p:txBody>
      </p:sp>
      <p:pic>
        <p:nvPicPr>
          <p:cNvPr id="7" name="Picture 6">
            <a:extLst>
              <a:ext uri="{FF2B5EF4-FFF2-40B4-BE49-F238E27FC236}">
                <a16:creationId xmlns:a16="http://schemas.microsoft.com/office/drawing/2014/main" id="{4F6E3F53-23F1-3E95-A335-70DC9170D7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284" y="1144913"/>
            <a:ext cx="2614549" cy="1582294"/>
          </a:xfrm>
          <a:prstGeom prst="rect">
            <a:avLst/>
          </a:prstGeom>
        </p:spPr>
      </p:pic>
      <p:sp>
        <p:nvSpPr>
          <p:cNvPr id="8" name="TextBox 7">
            <a:extLst>
              <a:ext uri="{FF2B5EF4-FFF2-40B4-BE49-F238E27FC236}">
                <a16:creationId xmlns:a16="http://schemas.microsoft.com/office/drawing/2014/main" id="{18FF1CDC-30D5-B906-ACDA-C99F68EB5ADD}"/>
              </a:ext>
            </a:extLst>
          </p:cNvPr>
          <p:cNvSpPr txBox="1"/>
          <p:nvPr/>
        </p:nvSpPr>
        <p:spPr>
          <a:xfrm>
            <a:off x="7094082" y="2983842"/>
            <a:ext cx="1396181"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REAR VIEW</a:t>
            </a:r>
          </a:p>
        </p:txBody>
      </p:sp>
      <p:pic>
        <p:nvPicPr>
          <p:cNvPr id="10" name="Picture 9">
            <a:extLst>
              <a:ext uri="{FF2B5EF4-FFF2-40B4-BE49-F238E27FC236}">
                <a16:creationId xmlns:a16="http://schemas.microsoft.com/office/drawing/2014/main" id="{562C4574-6A9B-2818-B92F-BAB555278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0328" y="1138311"/>
            <a:ext cx="2888453" cy="1632747"/>
          </a:xfrm>
          <a:prstGeom prst="rect">
            <a:avLst/>
          </a:prstGeom>
        </p:spPr>
      </p:pic>
      <p:sp>
        <p:nvSpPr>
          <p:cNvPr id="12" name="TextBox 11">
            <a:extLst>
              <a:ext uri="{FF2B5EF4-FFF2-40B4-BE49-F238E27FC236}">
                <a16:creationId xmlns:a16="http://schemas.microsoft.com/office/drawing/2014/main" id="{262B16FB-AE95-8252-4229-A98CF5A0FEB3}"/>
              </a:ext>
            </a:extLst>
          </p:cNvPr>
          <p:cNvSpPr txBox="1"/>
          <p:nvPr/>
        </p:nvSpPr>
        <p:spPr>
          <a:xfrm>
            <a:off x="4220823" y="2939982"/>
            <a:ext cx="1347019"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TOP VIEW</a:t>
            </a:r>
          </a:p>
        </p:txBody>
      </p:sp>
      <p:pic>
        <p:nvPicPr>
          <p:cNvPr id="14" name="Picture 13">
            <a:extLst>
              <a:ext uri="{FF2B5EF4-FFF2-40B4-BE49-F238E27FC236}">
                <a16:creationId xmlns:a16="http://schemas.microsoft.com/office/drawing/2014/main" id="{BDD2A72C-C4DB-12A0-EA93-FEB3F4887B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2825" y="1160787"/>
            <a:ext cx="2832896" cy="1582294"/>
          </a:xfrm>
          <a:prstGeom prst="rect">
            <a:avLst/>
          </a:prstGeom>
        </p:spPr>
      </p:pic>
      <p:sp>
        <p:nvSpPr>
          <p:cNvPr id="15" name="TextBox 14">
            <a:extLst>
              <a:ext uri="{FF2B5EF4-FFF2-40B4-BE49-F238E27FC236}">
                <a16:creationId xmlns:a16="http://schemas.microsoft.com/office/drawing/2014/main" id="{A916B626-0E8E-F160-FCF0-82830B82D672}"/>
              </a:ext>
            </a:extLst>
          </p:cNvPr>
          <p:cNvSpPr txBox="1"/>
          <p:nvPr/>
        </p:nvSpPr>
        <p:spPr>
          <a:xfrm>
            <a:off x="773115" y="5851682"/>
            <a:ext cx="2123766" cy="338554"/>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LEFT SIDE VIEW </a:t>
            </a:r>
          </a:p>
        </p:txBody>
      </p:sp>
      <p:pic>
        <p:nvPicPr>
          <p:cNvPr id="17" name="Picture 16">
            <a:extLst>
              <a:ext uri="{FF2B5EF4-FFF2-40B4-BE49-F238E27FC236}">
                <a16:creationId xmlns:a16="http://schemas.microsoft.com/office/drawing/2014/main" id="{B0138787-931B-2EC9-C0C4-3B23C4AC36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2397" y="3939190"/>
            <a:ext cx="2800091" cy="1767590"/>
          </a:xfrm>
          <a:prstGeom prst="rect">
            <a:avLst/>
          </a:prstGeom>
        </p:spPr>
      </p:pic>
      <p:sp>
        <p:nvSpPr>
          <p:cNvPr id="18" name="TextBox 17">
            <a:extLst>
              <a:ext uri="{FF2B5EF4-FFF2-40B4-BE49-F238E27FC236}">
                <a16:creationId xmlns:a16="http://schemas.microsoft.com/office/drawing/2014/main" id="{E0B8B433-4E9B-31E4-B526-8439458C1D08}"/>
              </a:ext>
            </a:extLst>
          </p:cNvPr>
          <p:cNvSpPr txBox="1"/>
          <p:nvPr/>
        </p:nvSpPr>
        <p:spPr>
          <a:xfrm>
            <a:off x="6492671" y="5871760"/>
            <a:ext cx="2123766"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RIGHT SIDE VIEW</a:t>
            </a:r>
          </a:p>
        </p:txBody>
      </p:sp>
      <p:pic>
        <p:nvPicPr>
          <p:cNvPr id="20" name="Picture 19">
            <a:extLst>
              <a:ext uri="{FF2B5EF4-FFF2-40B4-BE49-F238E27FC236}">
                <a16:creationId xmlns:a16="http://schemas.microsoft.com/office/drawing/2014/main" id="{831BA084-6EF2-C171-9975-374AFBCA67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10328" y="4000920"/>
            <a:ext cx="2888453" cy="1717882"/>
          </a:xfrm>
          <a:prstGeom prst="rect">
            <a:avLst/>
          </a:prstGeom>
        </p:spPr>
      </p:pic>
      <p:pic>
        <p:nvPicPr>
          <p:cNvPr id="21" name="Picture 20">
            <a:extLst>
              <a:ext uri="{FF2B5EF4-FFF2-40B4-BE49-F238E27FC236}">
                <a16:creationId xmlns:a16="http://schemas.microsoft.com/office/drawing/2014/main" id="{A3F69A3D-6088-D498-A085-CE0A4E1EA1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13" name="Picture 12">
            <a:extLst>
              <a:ext uri="{FF2B5EF4-FFF2-40B4-BE49-F238E27FC236}">
                <a16:creationId xmlns:a16="http://schemas.microsoft.com/office/drawing/2014/main" id="{17B16812-9CB2-F852-7531-219BDB952A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44269" y="3988898"/>
            <a:ext cx="2869291" cy="1717882"/>
          </a:xfrm>
          <a:prstGeom prst="rect">
            <a:avLst/>
          </a:prstGeom>
        </p:spPr>
      </p:pic>
      <p:sp>
        <p:nvSpPr>
          <p:cNvPr id="16" name="TextBox 15">
            <a:extLst>
              <a:ext uri="{FF2B5EF4-FFF2-40B4-BE49-F238E27FC236}">
                <a16:creationId xmlns:a16="http://schemas.microsoft.com/office/drawing/2014/main" id="{BBE94D83-5965-7E4B-0C2B-F0AC4C7F7AC9}"/>
              </a:ext>
            </a:extLst>
          </p:cNvPr>
          <p:cNvSpPr txBox="1"/>
          <p:nvPr/>
        </p:nvSpPr>
        <p:spPr>
          <a:xfrm>
            <a:off x="3742264" y="5851099"/>
            <a:ext cx="2477855"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ISOMATRIC VIEW</a:t>
            </a:r>
            <a:endParaRPr lang="en-IN" b="1" dirty="0">
              <a:latin typeface="Times New Roman" panose="02020603050405020304" pitchFamily="18" charset="0"/>
              <a:cs typeface="Times New Roman" panose="02020603050405020304" pitchFamily="18" charset="0"/>
            </a:endParaRPr>
          </a:p>
        </p:txBody>
      </p:sp>
      <p:graphicFrame>
        <p:nvGraphicFramePr>
          <p:cNvPr id="24" name="Table 23">
            <a:extLst>
              <a:ext uri="{FF2B5EF4-FFF2-40B4-BE49-F238E27FC236}">
                <a16:creationId xmlns:a16="http://schemas.microsoft.com/office/drawing/2014/main" id="{88139C39-1448-A652-6070-423E6215C492}"/>
              </a:ext>
            </a:extLst>
          </p:cNvPr>
          <p:cNvGraphicFramePr>
            <a:graphicFrameLocks noGrp="1"/>
          </p:cNvGraphicFramePr>
          <p:nvPr>
            <p:extLst>
              <p:ext uri="{D42A27DB-BD31-4B8C-83A1-F6EECF244321}">
                <p14:modId xmlns:p14="http://schemas.microsoft.com/office/powerpoint/2010/main" val="2130199309"/>
              </p:ext>
            </p:extLst>
          </p:nvPr>
        </p:nvGraphicFramePr>
        <p:xfrm>
          <a:off x="9066039" y="1250703"/>
          <a:ext cx="2792870" cy="4868805"/>
        </p:xfrm>
        <a:graphic>
          <a:graphicData uri="http://schemas.openxmlformats.org/drawingml/2006/table">
            <a:tbl>
              <a:tblPr firstRow="1" bandRow="1">
                <a:tableStyleId>{2D5ABB26-0587-4C30-8999-92F81FD0307C}</a:tableStyleId>
              </a:tblPr>
              <a:tblGrid>
                <a:gridCol w="1426879">
                  <a:extLst>
                    <a:ext uri="{9D8B030D-6E8A-4147-A177-3AD203B41FA5}">
                      <a16:colId xmlns:a16="http://schemas.microsoft.com/office/drawing/2014/main" val="3497112022"/>
                    </a:ext>
                  </a:extLst>
                </a:gridCol>
                <a:gridCol w="737419">
                  <a:extLst>
                    <a:ext uri="{9D8B030D-6E8A-4147-A177-3AD203B41FA5}">
                      <a16:colId xmlns:a16="http://schemas.microsoft.com/office/drawing/2014/main" val="2710547912"/>
                    </a:ext>
                  </a:extLst>
                </a:gridCol>
                <a:gridCol w="628572">
                  <a:extLst>
                    <a:ext uri="{9D8B030D-6E8A-4147-A177-3AD203B41FA5}">
                      <a16:colId xmlns:a16="http://schemas.microsoft.com/office/drawing/2014/main" val="1540052836"/>
                    </a:ext>
                  </a:extLst>
                </a:gridCol>
              </a:tblGrid>
              <a:tr h="440440">
                <a:tc>
                  <a:txBody>
                    <a:bodyPr/>
                    <a:lstStyle/>
                    <a:p>
                      <a:pPr>
                        <a:buNone/>
                      </a:pPr>
                      <a:r>
                        <a:rPr lang="en-IN" b="1" dirty="0"/>
                        <a:t>Parameter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b="1"/>
                        <a:t>Value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b="1"/>
                        <a:t>Unit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593790"/>
                  </a:ext>
                </a:extLst>
              </a:tr>
              <a:tr h="629354">
                <a:tc>
                  <a:txBody>
                    <a:bodyPr/>
                    <a:lstStyle/>
                    <a:p>
                      <a:pPr>
                        <a:buNone/>
                      </a:pPr>
                      <a:r>
                        <a:rPr lang="en-IN"/>
                        <a:t>Material Utilized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AISI 4130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21476"/>
                  </a:ext>
                </a:extLst>
              </a:tr>
              <a:tr h="899077">
                <a:tc>
                  <a:txBody>
                    <a:bodyPr/>
                    <a:lstStyle/>
                    <a:p>
                      <a:pPr>
                        <a:buNone/>
                      </a:pPr>
                      <a:r>
                        <a:rPr lang="en-IN" dirty="0"/>
                        <a:t>Young’s Modulus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205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GPa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8721572"/>
                  </a:ext>
                </a:extLst>
              </a:tr>
              <a:tr h="629354">
                <a:tc>
                  <a:txBody>
                    <a:bodyPr/>
                    <a:lstStyle/>
                    <a:p>
                      <a:pPr>
                        <a:buNone/>
                      </a:pPr>
                      <a:r>
                        <a:rPr lang="en-IN"/>
                        <a:t>Yield 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435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MPa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1320488"/>
                  </a:ext>
                </a:extLst>
              </a:tr>
              <a:tr h="968968">
                <a:tc>
                  <a:txBody>
                    <a:bodyPr/>
                    <a:lstStyle/>
                    <a:p>
                      <a:pPr>
                        <a:buNone/>
                      </a:pPr>
                      <a:r>
                        <a:rPr lang="en-IN"/>
                        <a:t>Ultimate Tensile 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560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MPa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9480736"/>
                  </a:ext>
                </a:extLst>
              </a:tr>
              <a:tr h="359631">
                <a:tc>
                  <a:txBody>
                    <a:bodyPr/>
                    <a:lstStyle/>
                    <a:p>
                      <a:pPr>
                        <a:buNone/>
                      </a:pPr>
                      <a:r>
                        <a:rPr lang="en-IN"/>
                        <a:t>Density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7850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kg/m³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7590974"/>
                  </a:ext>
                </a:extLst>
              </a:tr>
              <a:tr h="629354">
                <a:tc>
                  <a:txBody>
                    <a:bodyPr/>
                    <a:lstStyle/>
                    <a:p>
                      <a:pPr>
                        <a:buNone/>
                      </a:pPr>
                      <a:r>
                        <a:rPr lang="en-IN"/>
                        <a:t>Bending 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 435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MPa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4673476"/>
                  </a:ext>
                </a:extLst>
              </a:tr>
            </a:tbl>
          </a:graphicData>
        </a:graphic>
      </p:graphicFrame>
      <p:pic>
        <p:nvPicPr>
          <p:cNvPr id="2" name="Picture 1">
            <a:extLst>
              <a:ext uri="{FF2B5EF4-FFF2-40B4-BE49-F238E27FC236}">
                <a16:creationId xmlns:a16="http://schemas.microsoft.com/office/drawing/2014/main" id="{E74C9760-F970-ABDF-7858-FA76711D5DA0}"/>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3820819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5C069E6-6D26-4C89-C845-2863C0338A51}"/>
              </a:ext>
            </a:extLst>
          </p:cNvPr>
          <p:cNvSpPr/>
          <p:nvPr/>
        </p:nvSpPr>
        <p:spPr>
          <a:xfrm>
            <a:off x="1873044" y="1690687"/>
            <a:ext cx="8445910" cy="4365983"/>
          </a:xfrm>
          <a:prstGeom prst="roundRect">
            <a:avLst>
              <a:gd name="adj" fmla="val 6490"/>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1D20F09-EA2F-735C-DDB9-4861BB07B219}"/>
              </a:ext>
            </a:extLst>
          </p:cNvPr>
          <p:cNvSpPr>
            <a:spLocks noGrp="1"/>
          </p:cNvSpPr>
          <p:nvPr>
            <p:ph type="title"/>
          </p:nvPr>
        </p:nvSpPr>
        <p:spPr/>
        <p:txBody>
          <a:bodyPr>
            <a:normAutofit/>
          </a:bodyPr>
          <a:lstStyle/>
          <a:p>
            <a:pPr algn="ctr"/>
            <a:r>
              <a:rPr lang="en-IN" sz="2000" b="1" dirty="0">
                <a:latin typeface="Times New Roman" panose="02020603050405020304" pitchFamily="18" charset="0"/>
                <a:cs typeface="Times New Roman" panose="02020603050405020304" pitchFamily="18" charset="0"/>
              </a:rPr>
              <a:t>E-KART FULL ASSEMBLY</a:t>
            </a:r>
          </a:p>
        </p:txBody>
      </p:sp>
      <p:pic>
        <p:nvPicPr>
          <p:cNvPr id="4" name="Picture 3">
            <a:extLst>
              <a:ext uri="{FF2B5EF4-FFF2-40B4-BE49-F238E27FC236}">
                <a16:creationId xmlns:a16="http://schemas.microsoft.com/office/drawing/2014/main" id="{69FF3B6A-2E9C-0AEE-49A6-3F95B484C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4382" y="2190327"/>
            <a:ext cx="5623233" cy="3366703"/>
          </a:xfrm>
          <a:prstGeom prst="roundRect">
            <a:avLst/>
          </a:prstGeom>
        </p:spPr>
      </p:pic>
      <p:pic>
        <p:nvPicPr>
          <p:cNvPr id="8" name="Picture 7">
            <a:extLst>
              <a:ext uri="{FF2B5EF4-FFF2-40B4-BE49-F238E27FC236}">
                <a16:creationId xmlns:a16="http://schemas.microsoft.com/office/drawing/2014/main" id="{A9B95638-4702-8974-52E3-9B8D5A33B3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3" name="Picture 2">
            <a:extLst>
              <a:ext uri="{FF2B5EF4-FFF2-40B4-BE49-F238E27FC236}">
                <a16:creationId xmlns:a16="http://schemas.microsoft.com/office/drawing/2014/main" id="{D95CA7BF-525E-EB16-E00A-B0D021840B5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2142830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2CA7E9F-B66B-27E6-F91B-CAD7718CFDAB}"/>
              </a:ext>
            </a:extLst>
          </p:cNvPr>
          <p:cNvSpPr/>
          <p:nvPr/>
        </p:nvSpPr>
        <p:spPr>
          <a:xfrm>
            <a:off x="64666" y="991996"/>
            <a:ext cx="12048676" cy="5662804"/>
          </a:xfrm>
          <a:prstGeom prst="roundRect">
            <a:avLst>
              <a:gd name="adj" fmla="val 5629"/>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3D8E519E-F5D0-13EF-C6D5-84E3AD84D1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sp>
        <p:nvSpPr>
          <p:cNvPr id="5" name="TextBox 4">
            <a:extLst>
              <a:ext uri="{FF2B5EF4-FFF2-40B4-BE49-F238E27FC236}">
                <a16:creationId xmlns:a16="http://schemas.microsoft.com/office/drawing/2014/main" id="{90DB91EC-94A0-BE37-8C12-8F126D180FBF}"/>
              </a:ext>
            </a:extLst>
          </p:cNvPr>
          <p:cNvSpPr txBox="1"/>
          <p:nvPr/>
        </p:nvSpPr>
        <p:spPr>
          <a:xfrm>
            <a:off x="3484880" y="203200"/>
            <a:ext cx="5039360" cy="369332"/>
          </a:xfrm>
          <a:prstGeom prst="rect">
            <a:avLst/>
          </a:prstGeom>
          <a:noFill/>
        </p:spPr>
        <p:txBody>
          <a:bodyPr wrap="square" rtlCol="0">
            <a:spAutoFit/>
          </a:bodyPr>
          <a:lstStyle/>
          <a:p>
            <a:pPr algn="ctr"/>
            <a:r>
              <a:rPr lang="en-US" b="1" u="sng" dirty="0">
                <a:latin typeface="Times New Roman" panose="02020603050405020304" pitchFamily="18" charset="0"/>
                <a:cs typeface="Times New Roman" panose="02020603050405020304" pitchFamily="18" charset="0"/>
              </a:rPr>
              <a:t>Chassis Analysis</a:t>
            </a:r>
            <a:endParaRPr lang="en-IN"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89F2EAF-7176-37BF-C2AD-34E0EB7685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973" y="1570389"/>
            <a:ext cx="2835919" cy="1568760"/>
          </a:xfrm>
          <a:prstGeom prst="rect">
            <a:avLst/>
          </a:prstGeom>
          <a:effectLst>
            <a:softEdge rad="31750"/>
          </a:effectLst>
        </p:spPr>
      </p:pic>
      <p:pic>
        <p:nvPicPr>
          <p:cNvPr id="16" name="Picture 15">
            <a:extLst>
              <a:ext uri="{FF2B5EF4-FFF2-40B4-BE49-F238E27FC236}">
                <a16:creationId xmlns:a16="http://schemas.microsoft.com/office/drawing/2014/main" id="{EC99013E-25E3-5A17-A7F2-2C19D4666B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43199" y="1570389"/>
            <a:ext cx="2611120" cy="1568760"/>
          </a:xfrm>
          <a:prstGeom prst="rect">
            <a:avLst/>
          </a:prstGeom>
        </p:spPr>
      </p:pic>
      <p:pic>
        <p:nvPicPr>
          <p:cNvPr id="18" name="Picture 17">
            <a:extLst>
              <a:ext uri="{FF2B5EF4-FFF2-40B4-BE49-F238E27FC236}">
                <a16:creationId xmlns:a16="http://schemas.microsoft.com/office/drawing/2014/main" id="{004A8D3F-3A35-CA3A-81FB-75A1D6C685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1448026"/>
            <a:ext cx="2835919" cy="1568760"/>
          </a:xfrm>
          <a:prstGeom prst="rect">
            <a:avLst/>
          </a:prstGeom>
        </p:spPr>
      </p:pic>
      <p:graphicFrame>
        <p:nvGraphicFramePr>
          <p:cNvPr id="20" name="Table 19">
            <a:extLst>
              <a:ext uri="{FF2B5EF4-FFF2-40B4-BE49-F238E27FC236}">
                <a16:creationId xmlns:a16="http://schemas.microsoft.com/office/drawing/2014/main" id="{26B44C11-D19F-63E0-F52D-0746EA63441F}"/>
              </a:ext>
            </a:extLst>
          </p:cNvPr>
          <p:cNvGraphicFramePr>
            <a:graphicFrameLocks noGrp="1"/>
          </p:cNvGraphicFramePr>
          <p:nvPr>
            <p:extLst>
              <p:ext uri="{D42A27DB-BD31-4B8C-83A1-F6EECF244321}">
                <p14:modId xmlns:p14="http://schemas.microsoft.com/office/powerpoint/2010/main" val="4020460827"/>
              </p:ext>
            </p:extLst>
          </p:nvPr>
        </p:nvGraphicFramePr>
        <p:xfrm>
          <a:off x="235973" y="3348881"/>
          <a:ext cx="11690555" cy="2494153"/>
        </p:xfrm>
        <a:graphic>
          <a:graphicData uri="http://schemas.openxmlformats.org/drawingml/2006/table">
            <a:tbl>
              <a:tblPr firstRow="1" bandRow="1">
                <a:tableStyleId>{2D5ABB26-0587-4C30-8999-92F81FD0307C}</a:tableStyleId>
              </a:tblPr>
              <a:tblGrid>
                <a:gridCol w="2930315">
                  <a:extLst>
                    <a:ext uri="{9D8B030D-6E8A-4147-A177-3AD203B41FA5}">
                      <a16:colId xmlns:a16="http://schemas.microsoft.com/office/drawing/2014/main" val="2009637570"/>
                    </a:ext>
                  </a:extLst>
                </a:gridCol>
                <a:gridCol w="2910449">
                  <a:extLst>
                    <a:ext uri="{9D8B030D-6E8A-4147-A177-3AD203B41FA5}">
                      <a16:colId xmlns:a16="http://schemas.microsoft.com/office/drawing/2014/main" val="1385289143"/>
                    </a:ext>
                  </a:extLst>
                </a:gridCol>
                <a:gridCol w="2954428">
                  <a:extLst>
                    <a:ext uri="{9D8B030D-6E8A-4147-A177-3AD203B41FA5}">
                      <a16:colId xmlns:a16="http://schemas.microsoft.com/office/drawing/2014/main" val="981135607"/>
                    </a:ext>
                  </a:extLst>
                </a:gridCol>
                <a:gridCol w="2895363">
                  <a:extLst>
                    <a:ext uri="{9D8B030D-6E8A-4147-A177-3AD203B41FA5}">
                      <a16:colId xmlns:a16="http://schemas.microsoft.com/office/drawing/2014/main" val="4241252440"/>
                    </a:ext>
                  </a:extLst>
                </a:gridCol>
              </a:tblGrid>
              <a:tr h="6171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FRONT 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REAR VIEW</a:t>
                      </a:r>
                    </a:p>
                    <a:p>
                      <a:pPr algn="ctr"/>
                      <a:endParaRPr lang="en-IN"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Times New Roman" panose="02020603050405020304" pitchFamily="18" charset="0"/>
                          <a:ea typeface="Tahoma" panose="020B0604030504040204" pitchFamily="34" charset="0"/>
                          <a:cs typeface="Times New Roman" panose="02020603050405020304" pitchFamily="18" charset="0"/>
                        </a:rPr>
                        <a:t>SIDE VIEW </a:t>
                      </a:r>
                      <a:endParaRPr lang="en-IN" sz="1400" b="1" dirty="0">
                        <a:latin typeface="Times New Roman" panose="02020603050405020304" pitchFamily="18" charset="0"/>
                        <a:ea typeface="Tahoma" panose="020B060403050404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Times New Roman" panose="02020603050405020304" pitchFamily="18" charset="0"/>
                          <a:cs typeface="Times New Roman" panose="02020603050405020304" pitchFamily="18" charset="0"/>
                        </a:rPr>
                        <a:t>Roll Over</a:t>
                      </a:r>
                      <a:endParaRPr lang="en-IN" sz="1400" b="1" dirty="0">
                        <a:latin typeface="Times New Roman" panose="02020603050405020304" pitchFamily="18" charset="0"/>
                        <a:ea typeface="Tahoma" panose="020B060403050404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2809945"/>
                  </a:ext>
                </a:extLst>
              </a:tr>
              <a:tr h="625681">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APPLIED LOAD (N) : 3000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APPLIED LOAD (N) : 3000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APPLIED LOAD (N) : 3000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APPLIED LOAD (N) : 3000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9182889"/>
                  </a:ext>
                </a:extLst>
              </a:tr>
              <a:tr h="625681">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TOTEL DEFORMATION (mm) : 1.0008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TOTEL DEFORMATION (mm) : 0.897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TOTEL DEFORMATION (mm) : 0.616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TOTEL DEFORMATION (mm) : 0.214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3092701"/>
                  </a:ext>
                </a:extLst>
              </a:tr>
              <a:tr h="625681">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FACTORY OF SAFETY (FOS) : 0.16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FACTORY OF SAFETY (FOS) : 0.18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FACTORY OF SAFETY (FOS) : 0.15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FACTORY OF SAFETY (FOS) :1.2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3771400"/>
                  </a:ext>
                </a:extLst>
              </a:tr>
            </a:tbl>
          </a:graphicData>
        </a:graphic>
      </p:graphicFrame>
      <p:pic>
        <p:nvPicPr>
          <p:cNvPr id="22" name="Picture 21">
            <a:extLst>
              <a:ext uri="{FF2B5EF4-FFF2-40B4-BE49-F238E27FC236}">
                <a16:creationId xmlns:a16="http://schemas.microsoft.com/office/drawing/2014/main" id="{1AD69565-7DCD-2FB1-5094-324DAC1BFE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3225" y="1471518"/>
            <a:ext cx="2782427" cy="1585201"/>
          </a:xfrm>
          <a:prstGeom prst="rect">
            <a:avLst/>
          </a:prstGeom>
        </p:spPr>
      </p:pic>
      <p:pic>
        <p:nvPicPr>
          <p:cNvPr id="4" name="Picture 3">
            <a:extLst>
              <a:ext uri="{FF2B5EF4-FFF2-40B4-BE49-F238E27FC236}">
                <a16:creationId xmlns:a16="http://schemas.microsoft.com/office/drawing/2014/main" id="{266705C8-2945-706B-BEDE-475CB5E5795D}"/>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2017632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FA7CD3C3-EE91-ACBC-F09C-AE99B0F86933}"/>
              </a:ext>
            </a:extLst>
          </p:cNvPr>
          <p:cNvSpPr/>
          <p:nvPr/>
        </p:nvSpPr>
        <p:spPr>
          <a:xfrm>
            <a:off x="6275122" y="4224693"/>
            <a:ext cx="5640517" cy="1342665"/>
          </a:xfrm>
          <a:prstGeom prst="roundRect">
            <a:avLst>
              <a:gd name="adj" fmla="val 6490"/>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Rounded Corners 10">
            <a:extLst>
              <a:ext uri="{FF2B5EF4-FFF2-40B4-BE49-F238E27FC236}">
                <a16:creationId xmlns:a16="http://schemas.microsoft.com/office/drawing/2014/main" id="{034D5D45-0AED-C4B4-8030-232E500AC65F}"/>
              </a:ext>
            </a:extLst>
          </p:cNvPr>
          <p:cNvSpPr/>
          <p:nvPr/>
        </p:nvSpPr>
        <p:spPr>
          <a:xfrm>
            <a:off x="6246215" y="1667972"/>
            <a:ext cx="5558499" cy="1619238"/>
          </a:xfrm>
          <a:prstGeom prst="roundRect">
            <a:avLst>
              <a:gd name="adj" fmla="val 6490"/>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FA7CD3C3-EE91-ACBC-F09C-AE99B0F86933}"/>
              </a:ext>
            </a:extLst>
          </p:cNvPr>
          <p:cNvSpPr/>
          <p:nvPr/>
        </p:nvSpPr>
        <p:spPr>
          <a:xfrm>
            <a:off x="317370" y="1667972"/>
            <a:ext cx="5558499" cy="4269842"/>
          </a:xfrm>
          <a:prstGeom prst="roundRect">
            <a:avLst>
              <a:gd name="adj" fmla="val 6490"/>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Picture 3">
            <a:extLst>
              <a:ext uri="{FF2B5EF4-FFF2-40B4-BE49-F238E27FC236}">
                <a16:creationId xmlns:a16="http://schemas.microsoft.com/office/drawing/2014/main" id="{AE1412C6-7FAA-8454-B467-8195C0CE8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graphicFrame>
        <p:nvGraphicFramePr>
          <p:cNvPr id="6" name="Table 5">
            <a:extLst>
              <a:ext uri="{FF2B5EF4-FFF2-40B4-BE49-F238E27FC236}">
                <a16:creationId xmlns:a16="http://schemas.microsoft.com/office/drawing/2014/main" id="{5129BC3B-0ECF-F446-D647-80649EC22C40}"/>
              </a:ext>
            </a:extLst>
          </p:cNvPr>
          <p:cNvGraphicFramePr>
            <a:graphicFrameLocks noGrp="1"/>
          </p:cNvGraphicFramePr>
          <p:nvPr>
            <p:extLst>
              <p:ext uri="{D42A27DB-BD31-4B8C-83A1-F6EECF244321}">
                <p14:modId xmlns:p14="http://schemas.microsoft.com/office/powerpoint/2010/main" val="1909824801"/>
              </p:ext>
            </p:extLst>
          </p:nvPr>
        </p:nvGraphicFramePr>
        <p:xfrm>
          <a:off x="583667" y="1894518"/>
          <a:ext cx="5023412" cy="3672840"/>
        </p:xfrm>
        <a:graphic>
          <a:graphicData uri="http://schemas.openxmlformats.org/drawingml/2006/table">
            <a:tbl>
              <a:tblPr firstRow="1" bandRow="1">
                <a:tableStyleId>{5940675A-B579-460E-94D1-54222C63F5DA}</a:tableStyleId>
              </a:tblPr>
              <a:tblGrid>
                <a:gridCol w="467338">
                  <a:extLst>
                    <a:ext uri="{9D8B030D-6E8A-4147-A177-3AD203B41FA5}">
                      <a16:colId xmlns:a16="http://schemas.microsoft.com/office/drawing/2014/main" val="3295803503"/>
                    </a:ext>
                  </a:extLst>
                </a:gridCol>
                <a:gridCol w="1717495">
                  <a:extLst>
                    <a:ext uri="{9D8B030D-6E8A-4147-A177-3AD203B41FA5}">
                      <a16:colId xmlns:a16="http://schemas.microsoft.com/office/drawing/2014/main" val="2534792841"/>
                    </a:ext>
                  </a:extLst>
                </a:gridCol>
                <a:gridCol w="2838579">
                  <a:extLst>
                    <a:ext uri="{9D8B030D-6E8A-4147-A177-3AD203B41FA5}">
                      <a16:colId xmlns:a16="http://schemas.microsoft.com/office/drawing/2014/main" val="1721881640"/>
                    </a:ext>
                  </a:extLst>
                </a:gridCol>
              </a:tblGrid>
              <a:tr h="370840">
                <a:tc>
                  <a:txBody>
                    <a:bodyPr/>
                    <a:lstStyle/>
                    <a:p>
                      <a:r>
                        <a:rPr lang="en-US" dirty="0"/>
                        <a:t>S. No </a:t>
                      </a:r>
                      <a:endParaRPr lang="en-IN" dirty="0">
                        <a:latin typeface="Times New Roman" panose="02020603050405020304" pitchFamily="18" charset="0"/>
                        <a:cs typeface="Times New Roman" panose="02020603050405020304" pitchFamily="18" charset="0"/>
                      </a:endParaRPr>
                    </a:p>
                  </a:txBody>
                  <a:tcPr/>
                </a:tc>
                <a:tc>
                  <a:txBody>
                    <a:bodyPr/>
                    <a:lstStyle/>
                    <a:p>
                      <a:pPr algn="ctr">
                        <a:buNone/>
                      </a:pPr>
                      <a:r>
                        <a:rPr lang="en-IN" sz="2000" b="1" dirty="0">
                          <a:latin typeface="Times New Roman" panose="02020603050405020304" pitchFamily="18" charset="0"/>
                          <a:cs typeface="Times New Roman" panose="02020603050405020304" pitchFamily="18" charset="0"/>
                        </a:rPr>
                        <a:t>Parameter</a:t>
                      </a:r>
                      <a:endParaRPr lang="en-IN" sz="2000" dirty="0">
                        <a:latin typeface="Times New Roman" panose="02020603050405020304" pitchFamily="18" charset="0"/>
                        <a:cs typeface="Times New Roman" panose="02020603050405020304" pitchFamily="18" charset="0"/>
                      </a:endParaRPr>
                    </a:p>
                  </a:txBody>
                  <a:tcPr marL="83680" marR="83680" marT="41840" marB="41840" anchor="ctr"/>
                </a:tc>
                <a:tc>
                  <a:txBody>
                    <a:bodyPr/>
                    <a:lstStyle/>
                    <a:p>
                      <a:pPr>
                        <a:buNone/>
                      </a:pPr>
                      <a:endParaRPr lang="en-IN" sz="1100" dirty="0">
                        <a:latin typeface="Times New Roman" panose="02020603050405020304" pitchFamily="18" charset="0"/>
                        <a:cs typeface="Times New Roman" panose="02020603050405020304" pitchFamily="18" charset="0"/>
                      </a:endParaRPr>
                    </a:p>
                  </a:txBody>
                  <a:tcPr marL="83680" marR="83680" marT="41840" marB="41840" anchor="ctr"/>
                </a:tc>
                <a:extLst>
                  <a:ext uri="{0D108BD9-81ED-4DB2-BD59-A6C34878D82A}">
                    <a16:rowId xmlns:a16="http://schemas.microsoft.com/office/drawing/2014/main" val="3905820775"/>
                  </a:ext>
                </a:extLst>
              </a:tr>
              <a:tr h="370840">
                <a:tc>
                  <a:txBody>
                    <a:bodyPr/>
                    <a:lstStyle/>
                    <a:p>
                      <a:pPr marL="0" indent="0">
                        <a:buFontTx/>
                        <a:buNone/>
                      </a:pPr>
                      <a:r>
                        <a:rPr lang="en-US" dirty="0"/>
                        <a:t>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Overall length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1700 mm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87071016"/>
                  </a:ext>
                </a:extLst>
              </a:tr>
              <a:tr h="370840">
                <a:tc>
                  <a:txBody>
                    <a:bodyPr/>
                    <a:lstStyle/>
                    <a:p>
                      <a:pPr marL="0" indent="0">
                        <a:buFontTx/>
                        <a:buNone/>
                      </a:pPr>
                      <a:r>
                        <a:rPr lang="en-US" dirty="0"/>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Wheel base</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1100 mm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446219"/>
                  </a:ext>
                </a:extLst>
              </a:tr>
              <a:tr h="370840">
                <a:tc>
                  <a:txBody>
                    <a:bodyPr/>
                    <a:lstStyle/>
                    <a:p>
                      <a:pPr marL="0" indent="0">
                        <a:buFontTx/>
                        <a:buNone/>
                      </a:pPr>
                      <a:r>
                        <a:rPr lang="en-US" dirty="0"/>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Front wheel track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700 mm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90534690"/>
                  </a:ext>
                </a:extLst>
              </a:tr>
              <a:tr h="370840">
                <a:tc>
                  <a:txBody>
                    <a:bodyPr/>
                    <a:lstStyle/>
                    <a:p>
                      <a:pPr marL="0" indent="0">
                        <a:buFontTx/>
                        <a:buNone/>
                      </a:pPr>
                      <a:r>
                        <a:rPr lang="en-US" dirty="0"/>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Rear wheel track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720 mm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0786018"/>
                  </a:ext>
                </a:extLst>
              </a:tr>
              <a:tr h="370840">
                <a:tc>
                  <a:txBody>
                    <a:bodyPr/>
                    <a:lstStyle/>
                    <a:p>
                      <a:pPr marL="0" indent="0">
                        <a:buFontTx/>
                        <a:buNone/>
                      </a:pPr>
                      <a:r>
                        <a:rPr lang="en-US" dirty="0"/>
                        <a:t>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Ground clearance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50 mm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2777495"/>
                  </a:ext>
                </a:extLst>
              </a:tr>
              <a:tr h="370840">
                <a:tc>
                  <a:txBody>
                    <a:bodyPr/>
                    <a:lstStyle/>
                    <a:p>
                      <a:pPr marL="0" indent="0">
                        <a:buFontTx/>
                        <a:buNone/>
                      </a:pPr>
                      <a:r>
                        <a:rPr lang="en-US" dirty="0"/>
                        <a:t>6</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Overall height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900 mm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2071351"/>
                  </a:ext>
                </a:extLst>
              </a:tr>
            </a:tbl>
          </a:graphicData>
        </a:graphic>
      </p:graphicFrame>
      <p:graphicFrame>
        <p:nvGraphicFramePr>
          <p:cNvPr id="7" name="Table 6">
            <a:extLst>
              <a:ext uri="{FF2B5EF4-FFF2-40B4-BE49-F238E27FC236}">
                <a16:creationId xmlns:a16="http://schemas.microsoft.com/office/drawing/2014/main" id="{31F6726F-7AB6-3868-D3E2-C076E72A5CA1}"/>
              </a:ext>
            </a:extLst>
          </p:cNvPr>
          <p:cNvGraphicFramePr>
            <a:graphicFrameLocks noGrp="1"/>
          </p:cNvGraphicFramePr>
          <p:nvPr>
            <p:extLst>
              <p:ext uri="{D42A27DB-BD31-4B8C-83A1-F6EECF244321}">
                <p14:modId xmlns:p14="http://schemas.microsoft.com/office/powerpoint/2010/main" val="2132600674"/>
              </p:ext>
            </p:extLst>
          </p:nvPr>
        </p:nvGraphicFramePr>
        <p:xfrm>
          <a:off x="6316132" y="1894518"/>
          <a:ext cx="5418666" cy="111252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91421157"/>
                    </a:ext>
                  </a:extLst>
                </a:gridCol>
                <a:gridCol w="2709333">
                  <a:extLst>
                    <a:ext uri="{9D8B030D-6E8A-4147-A177-3AD203B41FA5}">
                      <a16:colId xmlns:a16="http://schemas.microsoft.com/office/drawing/2014/main" val="2724014067"/>
                    </a:ext>
                  </a:extLst>
                </a:gridCol>
              </a:tblGrid>
              <a:tr h="370840">
                <a:tc>
                  <a:txBody>
                    <a:bodyPr/>
                    <a:lstStyle/>
                    <a:p>
                      <a:r>
                        <a:rPr lang="en-US" dirty="0"/>
                        <a:t>Break type </a:t>
                      </a:r>
                      <a:endParaRPr lang="en-IN" dirty="0"/>
                    </a:p>
                  </a:txBody>
                  <a:tcPr/>
                </a:tc>
                <a:tc>
                  <a:txBody>
                    <a:bodyPr/>
                    <a:lstStyle/>
                    <a:p>
                      <a:r>
                        <a:rPr lang="en-IN" dirty="0"/>
                        <a:t>Rear brake disc</a:t>
                      </a:r>
                    </a:p>
                  </a:txBody>
                  <a:tcPr/>
                </a:tc>
                <a:extLst>
                  <a:ext uri="{0D108BD9-81ED-4DB2-BD59-A6C34878D82A}">
                    <a16:rowId xmlns:a16="http://schemas.microsoft.com/office/drawing/2014/main" val="1447554531"/>
                  </a:ext>
                </a:extLst>
              </a:tr>
              <a:tr h="370840">
                <a:tc>
                  <a:txBody>
                    <a:bodyPr/>
                    <a:lstStyle/>
                    <a:p>
                      <a:r>
                        <a:rPr lang="en-US" dirty="0"/>
                        <a:t>Disc Size</a:t>
                      </a:r>
                      <a:endParaRPr lang="en-IN" dirty="0"/>
                    </a:p>
                  </a:txBody>
                  <a:tcPr/>
                </a:tc>
                <a:tc>
                  <a:txBody>
                    <a:bodyPr/>
                    <a:lstStyle/>
                    <a:p>
                      <a:r>
                        <a:rPr lang="en-IN" dirty="0"/>
                        <a:t>220 mm</a:t>
                      </a:r>
                    </a:p>
                  </a:txBody>
                  <a:tcPr/>
                </a:tc>
                <a:extLst>
                  <a:ext uri="{0D108BD9-81ED-4DB2-BD59-A6C34878D82A}">
                    <a16:rowId xmlns:a16="http://schemas.microsoft.com/office/drawing/2014/main" val="1907354441"/>
                  </a:ext>
                </a:extLst>
              </a:tr>
              <a:tr h="370840">
                <a:tc>
                  <a:txBody>
                    <a:bodyPr/>
                    <a:lstStyle/>
                    <a:p>
                      <a:r>
                        <a:rPr lang="en-US" dirty="0"/>
                        <a:t>Disc Thickness</a:t>
                      </a:r>
                      <a:endParaRPr lang="en-IN" dirty="0"/>
                    </a:p>
                  </a:txBody>
                  <a:tcPr/>
                </a:tc>
                <a:tc>
                  <a:txBody>
                    <a:bodyPr/>
                    <a:lstStyle/>
                    <a:p>
                      <a:r>
                        <a:rPr lang="en-IN" dirty="0"/>
                        <a:t>4.0 mm</a:t>
                      </a:r>
                    </a:p>
                  </a:txBody>
                  <a:tcPr/>
                </a:tc>
                <a:extLst>
                  <a:ext uri="{0D108BD9-81ED-4DB2-BD59-A6C34878D82A}">
                    <a16:rowId xmlns:a16="http://schemas.microsoft.com/office/drawing/2014/main" val="2919700037"/>
                  </a:ext>
                </a:extLst>
              </a:tr>
            </a:tbl>
          </a:graphicData>
        </a:graphic>
      </p:graphicFrame>
      <p:graphicFrame>
        <p:nvGraphicFramePr>
          <p:cNvPr id="8" name="Table 7">
            <a:extLst>
              <a:ext uri="{FF2B5EF4-FFF2-40B4-BE49-F238E27FC236}">
                <a16:creationId xmlns:a16="http://schemas.microsoft.com/office/drawing/2014/main" id="{322D4E39-3E5C-F108-063C-6713C7F35DC5}"/>
              </a:ext>
            </a:extLst>
          </p:cNvPr>
          <p:cNvGraphicFramePr>
            <a:graphicFrameLocks noGrp="1"/>
          </p:cNvGraphicFramePr>
          <p:nvPr>
            <p:extLst>
              <p:ext uri="{D42A27DB-BD31-4B8C-83A1-F6EECF244321}">
                <p14:modId xmlns:p14="http://schemas.microsoft.com/office/powerpoint/2010/main" val="2187884438"/>
              </p:ext>
            </p:extLst>
          </p:nvPr>
        </p:nvGraphicFramePr>
        <p:xfrm>
          <a:off x="6386048" y="4514191"/>
          <a:ext cx="5418666" cy="75229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672782717"/>
                    </a:ext>
                  </a:extLst>
                </a:gridCol>
                <a:gridCol w="2709333">
                  <a:extLst>
                    <a:ext uri="{9D8B030D-6E8A-4147-A177-3AD203B41FA5}">
                      <a16:colId xmlns:a16="http://schemas.microsoft.com/office/drawing/2014/main" val="1994112370"/>
                    </a:ext>
                  </a:extLst>
                </a:gridCol>
              </a:tblGrid>
              <a:tr h="381450">
                <a:tc>
                  <a:txBody>
                    <a:bodyPr/>
                    <a:lstStyle/>
                    <a:p>
                      <a:r>
                        <a:rPr lang="en-US" dirty="0"/>
                        <a:t>Front tyre </a:t>
                      </a:r>
                      <a:endParaRPr lang="en-IN" dirty="0"/>
                    </a:p>
                  </a:txBody>
                  <a:tcPr/>
                </a:tc>
                <a:tc>
                  <a:txBody>
                    <a:bodyPr/>
                    <a:lstStyle/>
                    <a:p>
                      <a:pPr marL="91440" marR="0" lvl="0" indent="0" algn="l" defTabSz="914400" rtl="0" eaLnBrk="1" fontAlgn="auto" latinLnBrk="0" hangingPunct="1">
                        <a:lnSpc>
                          <a:spcPct val="100000"/>
                        </a:lnSpc>
                        <a:spcBef>
                          <a:spcPts val="245"/>
                        </a:spcBef>
                        <a:spcAft>
                          <a:spcPts val="0"/>
                        </a:spcAft>
                        <a:buClrTx/>
                        <a:buSzTx/>
                        <a:buFontTx/>
                        <a:buNone/>
                        <a:tabLst/>
                        <a:defRPr/>
                      </a:pPr>
                      <a:r>
                        <a:rPr kumimoji="0" lang="en-IN" sz="1600" b="0" u="none" strike="noStrike" kern="1200" cap="none" spc="0" normalizeH="0" baseline="0" noProof="0" dirty="0">
                          <a:ln>
                            <a:noFill/>
                          </a:ln>
                          <a:solidFill>
                            <a:prstClr val="black"/>
                          </a:solidFill>
                          <a:effectLst/>
                          <a:uLnTx/>
                          <a:uFillTx/>
                        </a:rPr>
                        <a:t>10</a:t>
                      </a:r>
                      <a:r>
                        <a:rPr kumimoji="0" lang="en-IN" sz="1600" b="0" u="none" strike="noStrike" kern="1200" cap="none" spc="-5"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X</a:t>
                      </a:r>
                      <a:r>
                        <a:rPr kumimoji="0" lang="en-IN" sz="1600" b="0" u="none" strike="noStrike" kern="1200" cap="none" spc="-15"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4.7</a:t>
                      </a:r>
                      <a:r>
                        <a:rPr kumimoji="0" lang="en-IN" sz="1600" b="0" u="none" strike="noStrike" kern="1200" cap="none" spc="-5"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X</a:t>
                      </a:r>
                      <a:r>
                        <a:rPr kumimoji="0" lang="en-IN" sz="1600" b="0" u="none" strike="noStrike" kern="1200" cap="none" spc="-5"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5</a:t>
                      </a:r>
                      <a:r>
                        <a:rPr kumimoji="0" lang="en-IN" sz="1600" b="0" u="none" strike="noStrike" kern="1200" cap="none" spc="-20" normalizeH="0" baseline="0" noProof="0" dirty="0">
                          <a:ln>
                            <a:noFill/>
                          </a:ln>
                          <a:solidFill>
                            <a:prstClr val="black"/>
                          </a:solidFill>
                          <a:effectLst/>
                          <a:uLnTx/>
                          <a:uFillTx/>
                        </a:rPr>
                        <a:t> </a:t>
                      </a:r>
                      <a:r>
                        <a:rPr kumimoji="0" lang="en-IN" sz="1600" b="0" u="none" strike="noStrike" kern="1200" cap="none" spc="-25" normalizeH="0" baseline="0" noProof="0" dirty="0">
                          <a:ln>
                            <a:noFill/>
                          </a:ln>
                          <a:solidFill>
                            <a:prstClr val="black"/>
                          </a:solidFill>
                          <a:effectLst/>
                          <a:uLnTx/>
                          <a:uFillTx/>
                        </a:rPr>
                        <a:t>in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985027271"/>
                  </a:ext>
                </a:extLst>
              </a:tr>
              <a:tr h="370840">
                <a:tc>
                  <a:txBody>
                    <a:bodyPr/>
                    <a:lstStyle/>
                    <a:p>
                      <a:r>
                        <a:rPr lang="en-US" dirty="0"/>
                        <a:t>Rear Tyre </a:t>
                      </a:r>
                      <a:endParaRPr lang="en-IN" dirty="0"/>
                    </a:p>
                  </a:txBody>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r>
                        <a:rPr kumimoji="0" lang="en-IN" sz="1600" b="0" u="none" strike="noStrike" kern="1200" cap="none" spc="-5"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11</a:t>
                      </a:r>
                      <a:r>
                        <a:rPr kumimoji="0" lang="en-IN" sz="1600" b="0" u="none" strike="noStrike" kern="1200" cap="none" spc="-5"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X</a:t>
                      </a:r>
                      <a:r>
                        <a:rPr kumimoji="0" lang="en-IN" sz="1600" b="0" u="none" strike="noStrike" kern="1200" cap="none" spc="-20"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7.1</a:t>
                      </a:r>
                      <a:r>
                        <a:rPr kumimoji="0" lang="en-IN" sz="1600" b="0" u="none" strike="noStrike" kern="1200" cap="none" spc="-5"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X</a:t>
                      </a:r>
                      <a:r>
                        <a:rPr kumimoji="0" lang="en-IN" sz="1600" b="0" u="none" strike="noStrike" kern="1200" cap="none" spc="-10" normalizeH="0" baseline="0" noProof="0" dirty="0">
                          <a:ln>
                            <a:noFill/>
                          </a:ln>
                          <a:solidFill>
                            <a:prstClr val="black"/>
                          </a:solidFill>
                          <a:effectLst/>
                          <a:uLnTx/>
                          <a:uFillTx/>
                        </a:rPr>
                        <a:t> </a:t>
                      </a:r>
                      <a:r>
                        <a:rPr kumimoji="0" lang="en-IN" sz="1600" b="0" u="none" strike="noStrike" kern="1200" cap="none" spc="0" normalizeH="0" baseline="0" noProof="0" dirty="0">
                          <a:ln>
                            <a:noFill/>
                          </a:ln>
                          <a:solidFill>
                            <a:prstClr val="black"/>
                          </a:solidFill>
                          <a:effectLst/>
                          <a:uLnTx/>
                          <a:uFillTx/>
                        </a:rPr>
                        <a:t>5</a:t>
                      </a:r>
                      <a:r>
                        <a:rPr kumimoji="0" lang="en-IN" sz="1600" b="0" u="none" strike="noStrike" kern="1200" cap="none" spc="-15" normalizeH="0" baseline="0" noProof="0" dirty="0">
                          <a:ln>
                            <a:noFill/>
                          </a:ln>
                          <a:solidFill>
                            <a:prstClr val="black"/>
                          </a:solidFill>
                          <a:effectLst/>
                          <a:uLnTx/>
                          <a:uFillTx/>
                        </a:rPr>
                        <a:t> </a:t>
                      </a:r>
                      <a:r>
                        <a:rPr kumimoji="0" lang="en-IN" sz="1600" b="0" u="none" strike="noStrike" kern="1200" cap="none" spc="-25" normalizeH="0" baseline="0" noProof="0" dirty="0">
                          <a:ln>
                            <a:noFill/>
                          </a:ln>
                          <a:solidFill>
                            <a:prstClr val="black"/>
                          </a:solidFill>
                          <a:effectLst/>
                          <a:uLnTx/>
                          <a:uFillTx/>
                        </a:rPr>
                        <a:t>in</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35231293"/>
                  </a:ext>
                </a:extLst>
              </a:tr>
            </a:tbl>
          </a:graphicData>
        </a:graphic>
      </p:graphicFrame>
      <p:pic>
        <p:nvPicPr>
          <p:cNvPr id="2" name="Picture 1">
            <a:extLst>
              <a:ext uri="{FF2B5EF4-FFF2-40B4-BE49-F238E27FC236}">
                <a16:creationId xmlns:a16="http://schemas.microsoft.com/office/drawing/2014/main" id="{2B269A33-40E8-03CC-6E6C-EC321FFFE2C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
        <p:nvSpPr>
          <p:cNvPr id="12" name="TextBox 11">
            <a:extLst>
              <a:ext uri="{FF2B5EF4-FFF2-40B4-BE49-F238E27FC236}">
                <a16:creationId xmlns:a16="http://schemas.microsoft.com/office/drawing/2014/main" id="{B69346FA-7D2F-D53D-5B95-2467EC8B85EF}"/>
              </a:ext>
            </a:extLst>
          </p:cNvPr>
          <p:cNvSpPr txBox="1"/>
          <p:nvPr/>
        </p:nvSpPr>
        <p:spPr>
          <a:xfrm>
            <a:off x="2986268" y="268069"/>
            <a:ext cx="5558499"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KART VEHICLE GENERAL DIMENSIONS</a:t>
            </a:r>
          </a:p>
        </p:txBody>
      </p:sp>
    </p:spTree>
    <p:extLst>
      <p:ext uri="{BB962C8B-B14F-4D97-AF65-F5344CB8AC3E}">
        <p14:creationId xmlns:p14="http://schemas.microsoft.com/office/powerpoint/2010/main" val="3374552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606A57BA-364D-D89C-4D8A-719BD254BCA7}"/>
              </a:ext>
            </a:extLst>
          </p:cNvPr>
          <p:cNvSpPr/>
          <p:nvPr/>
        </p:nvSpPr>
        <p:spPr>
          <a:xfrm>
            <a:off x="0" y="1011568"/>
            <a:ext cx="12191999" cy="5775311"/>
          </a:xfrm>
          <a:prstGeom prst="roundRect">
            <a:avLst>
              <a:gd name="adj" fmla="val 5629"/>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 name="Table 3">
            <a:extLst>
              <a:ext uri="{FF2B5EF4-FFF2-40B4-BE49-F238E27FC236}">
                <a16:creationId xmlns:a16="http://schemas.microsoft.com/office/drawing/2014/main" id="{3C12676D-46F7-27CA-F80F-0B0BA6E20775}"/>
              </a:ext>
            </a:extLst>
          </p:cNvPr>
          <p:cNvGraphicFramePr>
            <a:graphicFrameLocks noGrp="1"/>
          </p:cNvGraphicFramePr>
          <p:nvPr>
            <p:extLst>
              <p:ext uri="{D42A27DB-BD31-4B8C-83A1-F6EECF244321}">
                <p14:modId xmlns:p14="http://schemas.microsoft.com/office/powerpoint/2010/main" val="3814603657"/>
              </p:ext>
            </p:extLst>
          </p:nvPr>
        </p:nvGraphicFramePr>
        <p:xfrm>
          <a:off x="137160" y="1626171"/>
          <a:ext cx="5101134" cy="4867228"/>
        </p:xfrm>
        <a:graphic>
          <a:graphicData uri="http://schemas.openxmlformats.org/drawingml/2006/table">
            <a:tbl>
              <a:tblPr/>
              <a:tblGrid>
                <a:gridCol w="472440">
                  <a:extLst>
                    <a:ext uri="{9D8B030D-6E8A-4147-A177-3AD203B41FA5}">
                      <a16:colId xmlns:a16="http://schemas.microsoft.com/office/drawing/2014/main" val="4002166528"/>
                    </a:ext>
                  </a:extLst>
                </a:gridCol>
                <a:gridCol w="2727960">
                  <a:extLst>
                    <a:ext uri="{9D8B030D-6E8A-4147-A177-3AD203B41FA5}">
                      <a16:colId xmlns:a16="http://schemas.microsoft.com/office/drawing/2014/main" val="3431898608"/>
                    </a:ext>
                  </a:extLst>
                </a:gridCol>
                <a:gridCol w="1900734">
                  <a:extLst>
                    <a:ext uri="{9D8B030D-6E8A-4147-A177-3AD203B41FA5}">
                      <a16:colId xmlns:a16="http://schemas.microsoft.com/office/drawing/2014/main" val="415053720"/>
                    </a:ext>
                  </a:extLst>
                </a:gridCol>
              </a:tblGrid>
              <a:tr h="295894">
                <a:tc>
                  <a:txBody>
                    <a:bodyPr/>
                    <a:lstStyle/>
                    <a:p>
                      <a:pPr>
                        <a:buNone/>
                      </a:pPr>
                      <a:r>
                        <a:rPr lang="en-IN" sz="1100" b="1">
                          <a:latin typeface="Times New Roman" panose="02020603050405020304" pitchFamily="18" charset="0"/>
                          <a:cs typeface="Times New Roman" panose="02020603050405020304" pitchFamily="18" charset="0"/>
                        </a:rPr>
                        <a:t>S.No</a:t>
                      </a:r>
                      <a:endParaRPr lang="en-IN" sz="110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latin typeface="Times New Roman" panose="02020603050405020304" pitchFamily="18" charset="0"/>
                          <a:cs typeface="Times New Roman" panose="02020603050405020304" pitchFamily="18" charset="0"/>
                        </a:rPr>
                        <a:t>Parameter</a:t>
                      </a:r>
                      <a:endParaRPr lang="en-IN" sz="1100" dirty="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latin typeface="Times New Roman" panose="02020603050405020304" pitchFamily="18" charset="0"/>
                          <a:cs typeface="Times New Roman" panose="02020603050405020304" pitchFamily="18" charset="0"/>
                        </a:rPr>
                        <a:t>Specification</a:t>
                      </a:r>
                      <a:endParaRPr lang="en-IN" sz="1100" dirty="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3226973"/>
                  </a:ext>
                </a:extLst>
              </a:tr>
              <a:tr h="493267">
                <a:tc>
                  <a:txBody>
                    <a:bodyPr/>
                    <a:lstStyle/>
                    <a:p>
                      <a:pPr>
                        <a:buNone/>
                      </a:pPr>
                      <a:r>
                        <a:rPr lang="en-IN" sz="1100">
                          <a:latin typeface="Times New Roman" panose="02020603050405020304" pitchFamily="18" charset="0"/>
                          <a:cs typeface="Times New Roman" panose="02020603050405020304" pitchFamily="18"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Motor Manufacturer &amp; Model</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latin typeface="Times New Roman" panose="02020603050405020304" pitchFamily="18" charset="0"/>
                          <a:cs typeface="Times New Roman" panose="02020603050405020304" pitchFamily="18" charset="0"/>
                        </a:rPr>
                        <a:t>DATAI – DATAI 60-5000-150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3351321"/>
                  </a:ext>
                </a:extLst>
              </a:tr>
              <a:tr h="529619">
                <a:tc>
                  <a:txBody>
                    <a:bodyPr/>
                    <a:lstStyle/>
                    <a:p>
                      <a:pPr>
                        <a:buNone/>
                      </a:pPr>
                      <a:r>
                        <a:rPr lang="en-IN" sz="1100">
                          <a:latin typeface="Times New Roman" panose="02020603050405020304" pitchFamily="18" charset="0"/>
                          <a:cs typeface="Times New Roman" panose="02020603050405020304" pitchFamily="18" charset="0"/>
                        </a:rPr>
                        <a:t>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latin typeface="Times New Roman" panose="02020603050405020304" pitchFamily="18" charset="0"/>
                          <a:cs typeface="Times New Roman" panose="02020603050405020304" pitchFamily="18" charset="0"/>
                        </a:rPr>
                        <a:t>Type of Motor Used</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latin typeface="Times New Roman" panose="02020603050405020304" pitchFamily="18" charset="0"/>
                          <a:cs typeface="Times New Roman" panose="02020603050405020304" pitchFamily="18" charset="0"/>
                        </a:rPr>
                        <a:t>PMSM (Permanent Magnet Synchronous Motor)</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8409549"/>
                  </a:ext>
                </a:extLst>
              </a:tr>
              <a:tr h="331379">
                <a:tc>
                  <a:txBody>
                    <a:bodyPr/>
                    <a:lstStyle/>
                    <a:p>
                      <a:pPr>
                        <a:buNone/>
                      </a:pPr>
                      <a:r>
                        <a:rPr lang="en-IN" sz="1100">
                          <a:latin typeface="Times New Roman" panose="02020603050405020304" pitchFamily="18" charset="0"/>
                          <a:cs typeface="Times New Roman" panose="02020603050405020304" pitchFamily="18" charset="0"/>
                        </a:rPr>
                        <a:t>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Motor Power (kW)</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1100">
                          <a:latin typeface="Times New Roman" panose="02020603050405020304" pitchFamily="18" charset="0"/>
                          <a:cs typeface="Times New Roman" panose="02020603050405020304" pitchFamily="18" charset="0"/>
                        </a:rPr>
                        <a:t>5 kW (Max allowed: 6 kW)</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866229"/>
                  </a:ext>
                </a:extLst>
              </a:tr>
              <a:tr h="430498">
                <a:tc>
                  <a:txBody>
                    <a:bodyPr/>
                    <a:lstStyle/>
                    <a:p>
                      <a:pPr>
                        <a:buNone/>
                      </a:pPr>
                      <a:r>
                        <a:rPr lang="en-IN" sz="1100">
                          <a:latin typeface="Times New Roman" panose="02020603050405020304" pitchFamily="18" charset="0"/>
                          <a:cs typeface="Times New Roman" panose="02020603050405020304" pitchFamily="18" charset="0"/>
                        </a:rPr>
                        <a:t>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latin typeface="Times New Roman" panose="02020603050405020304" pitchFamily="18" charset="0"/>
                          <a:cs typeface="Times New Roman" panose="02020603050405020304" pitchFamily="18" charset="0"/>
                        </a:rPr>
                        <a:t>Nominal Motor Voltage (Phase &amp; Volt)</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6-Phase, 60 V DC</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98747"/>
                  </a:ext>
                </a:extLst>
              </a:tr>
              <a:tr h="331379">
                <a:tc>
                  <a:txBody>
                    <a:bodyPr/>
                    <a:lstStyle/>
                    <a:p>
                      <a:pPr>
                        <a:buNone/>
                      </a:pPr>
                      <a:r>
                        <a:rPr lang="en-IN" sz="1100">
                          <a:latin typeface="Times New Roman" panose="02020603050405020304" pitchFamily="18" charset="0"/>
                          <a:cs typeface="Times New Roman" panose="02020603050405020304" pitchFamily="18" charset="0"/>
                        </a:rPr>
                        <a:t>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Maximum Design Motor RPM</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3800 rpm</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5460458"/>
                  </a:ext>
                </a:extLst>
              </a:tr>
              <a:tr h="295894">
                <a:tc>
                  <a:txBody>
                    <a:bodyPr/>
                    <a:lstStyle/>
                    <a:p>
                      <a:pPr>
                        <a:buNone/>
                      </a:pPr>
                      <a:r>
                        <a:rPr lang="en-IN" sz="1100" dirty="0">
                          <a:latin typeface="Times New Roman" panose="02020603050405020304" pitchFamily="18" charset="0"/>
                          <a:cs typeface="Times New Roman" panose="02020603050405020304" pitchFamily="18" charset="0"/>
                        </a:rPr>
                        <a:t>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latin typeface="Times New Roman" panose="02020603050405020304" pitchFamily="18" charset="0"/>
                          <a:cs typeface="Times New Roman" panose="02020603050405020304" pitchFamily="18" charset="0"/>
                        </a:rPr>
                        <a:t>Maximum Motor Torque (Peak)</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58 Nm</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8116978"/>
                  </a:ext>
                </a:extLst>
              </a:tr>
              <a:tr h="331379">
                <a:tc>
                  <a:txBody>
                    <a:bodyPr/>
                    <a:lstStyle/>
                    <a:p>
                      <a:pPr>
                        <a:buNone/>
                      </a:pPr>
                      <a:r>
                        <a:rPr lang="en-IN" sz="1100">
                          <a:latin typeface="Times New Roman" panose="02020603050405020304" pitchFamily="18" charset="0"/>
                          <a:cs typeface="Times New Roman" panose="02020603050405020304" pitchFamily="18" charset="0"/>
                        </a:rPr>
                        <a:t>7</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Maximum Motor Torque (Continuous)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16 Nm</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38798"/>
                  </a:ext>
                </a:extLst>
              </a:tr>
              <a:tr h="331379">
                <a:tc>
                  <a:txBody>
                    <a:bodyPr/>
                    <a:lstStyle/>
                    <a:p>
                      <a:pPr>
                        <a:buNone/>
                      </a:pPr>
                      <a:r>
                        <a:rPr lang="en-IN" sz="1100">
                          <a:latin typeface="Times New Roman" panose="02020603050405020304" pitchFamily="18" charset="0"/>
                          <a:cs typeface="Times New Roman" panose="02020603050405020304" pitchFamily="18" charset="0"/>
                        </a:rPr>
                        <a:t>8</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Maximum Motor Power (Peak)</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9 kW @ 3800 rpm</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1215837"/>
                  </a:ext>
                </a:extLst>
              </a:tr>
              <a:tr h="331379">
                <a:tc>
                  <a:txBody>
                    <a:bodyPr/>
                    <a:lstStyle/>
                    <a:p>
                      <a:pPr>
                        <a:buNone/>
                      </a:pPr>
                      <a:r>
                        <a:rPr lang="en-IN" sz="1100" dirty="0">
                          <a:latin typeface="Times New Roman" panose="02020603050405020304" pitchFamily="18" charset="0"/>
                          <a:cs typeface="Times New Roman" panose="02020603050405020304" pitchFamily="18" charset="0"/>
                        </a:rPr>
                        <a:t>9</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Maximum Motor Power (Continuous)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5 kW @ 3000 rpm</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9460160"/>
                  </a:ext>
                </a:extLst>
              </a:tr>
              <a:tr h="331379">
                <a:tc>
                  <a:txBody>
                    <a:bodyPr/>
                    <a:lstStyle/>
                    <a:p>
                      <a:pPr>
                        <a:buNone/>
                      </a:pPr>
                      <a:r>
                        <a:rPr lang="en-IN" sz="1100" dirty="0">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latin typeface="Times New Roman" panose="02020603050405020304" pitchFamily="18" charset="0"/>
                          <a:cs typeface="Times New Roman" panose="02020603050405020304" pitchFamily="18" charset="0"/>
                        </a:rPr>
                        <a:t>Motor Controller Type &amp;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PMSM Controller – DATAI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229196"/>
                  </a:ext>
                </a:extLst>
              </a:tr>
              <a:tr h="331379">
                <a:tc>
                  <a:txBody>
                    <a:bodyPr/>
                    <a:lstStyle/>
                    <a:p>
                      <a:pPr>
                        <a:buNone/>
                      </a:pPr>
                      <a:r>
                        <a:rPr lang="en-US" sz="1100" dirty="0">
                          <a:latin typeface="Times New Roman" panose="02020603050405020304" pitchFamily="18" charset="0"/>
                          <a:cs typeface="Times New Roman" panose="02020603050405020304" pitchFamily="18" charset="0"/>
                        </a:rPr>
                        <a:t>1</a:t>
                      </a:r>
                      <a:r>
                        <a:rPr lang="en-IN" sz="1100"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latin typeface="Times New Roman" panose="02020603050405020304" pitchFamily="18" charset="0"/>
                          <a:cs typeface="Times New Roman" panose="02020603050405020304" pitchFamily="18" charset="0"/>
                        </a:rPr>
                        <a:t>Motor Controller Discharge Power (Peak)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latin typeface="Times New Roman" panose="02020603050405020304" pitchFamily="18" charset="0"/>
                          <a:cs typeface="Times New Roman" panose="02020603050405020304" pitchFamily="18" charset="0"/>
                        </a:rPr>
                        <a:t>10 kW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7913055"/>
                  </a:ext>
                </a:extLst>
              </a:tr>
              <a:tr h="502403">
                <a:tc>
                  <a:txBody>
                    <a:bodyPr/>
                    <a:lstStyle/>
                    <a:p>
                      <a:pPr>
                        <a:buNone/>
                      </a:pPr>
                      <a:r>
                        <a:rPr lang="en-US" sz="1100" dirty="0">
                          <a:latin typeface="Times New Roman" panose="02020603050405020304" pitchFamily="18" charset="0"/>
                          <a:cs typeface="Times New Roman" panose="02020603050405020304" pitchFamily="18" charset="0"/>
                        </a:rPr>
                        <a:t>1</a:t>
                      </a:r>
                      <a:r>
                        <a:rPr lang="en-IN" sz="11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latin typeface="Times New Roman" panose="02020603050405020304" pitchFamily="18" charset="0"/>
                          <a:cs typeface="Times New Roman" panose="02020603050405020304" pitchFamily="18" charset="0"/>
                        </a:rPr>
                        <a:t>Motor Controller Discharge Power (Continuous)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latin typeface="Times New Roman" panose="02020603050405020304" pitchFamily="18" charset="0"/>
                          <a:cs typeface="Times New Roman" panose="02020603050405020304" pitchFamily="18" charset="0"/>
                        </a:rPr>
                        <a:t>5–6 kW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8222052"/>
                  </a:ext>
                </a:extLst>
              </a:tr>
            </a:tbl>
          </a:graphicData>
        </a:graphic>
      </p:graphicFrame>
      <p:graphicFrame>
        <p:nvGraphicFramePr>
          <p:cNvPr id="5" name="Table 4">
            <a:extLst>
              <a:ext uri="{FF2B5EF4-FFF2-40B4-BE49-F238E27FC236}">
                <a16:creationId xmlns:a16="http://schemas.microsoft.com/office/drawing/2014/main" id="{DBD50CFF-2E7D-C3AB-F5F6-760845942DB8}"/>
              </a:ext>
            </a:extLst>
          </p:cNvPr>
          <p:cNvGraphicFramePr>
            <a:graphicFrameLocks noGrp="1"/>
          </p:cNvGraphicFramePr>
          <p:nvPr>
            <p:extLst>
              <p:ext uri="{D42A27DB-BD31-4B8C-83A1-F6EECF244321}">
                <p14:modId xmlns:p14="http://schemas.microsoft.com/office/powerpoint/2010/main" val="3534909973"/>
              </p:ext>
            </p:extLst>
          </p:nvPr>
        </p:nvGraphicFramePr>
        <p:xfrm>
          <a:off x="5364480" y="1626171"/>
          <a:ext cx="6690360" cy="5029200"/>
        </p:xfrm>
        <a:graphic>
          <a:graphicData uri="http://schemas.openxmlformats.org/drawingml/2006/table">
            <a:tbl>
              <a:tblPr/>
              <a:tblGrid>
                <a:gridCol w="467360">
                  <a:extLst>
                    <a:ext uri="{9D8B030D-6E8A-4147-A177-3AD203B41FA5}">
                      <a16:colId xmlns:a16="http://schemas.microsoft.com/office/drawing/2014/main" val="2966671277"/>
                    </a:ext>
                  </a:extLst>
                </a:gridCol>
                <a:gridCol w="3242686">
                  <a:extLst>
                    <a:ext uri="{9D8B030D-6E8A-4147-A177-3AD203B41FA5}">
                      <a16:colId xmlns:a16="http://schemas.microsoft.com/office/drawing/2014/main" val="3220942611"/>
                    </a:ext>
                  </a:extLst>
                </a:gridCol>
                <a:gridCol w="2980314">
                  <a:extLst>
                    <a:ext uri="{9D8B030D-6E8A-4147-A177-3AD203B41FA5}">
                      <a16:colId xmlns:a16="http://schemas.microsoft.com/office/drawing/2014/main" val="4064747276"/>
                    </a:ext>
                  </a:extLst>
                </a:gridCol>
              </a:tblGrid>
              <a:tr h="442475">
                <a:tc>
                  <a:txBody>
                    <a:bodyPr/>
                    <a:lstStyle/>
                    <a:p>
                      <a:pPr>
                        <a:buNone/>
                      </a:pPr>
                      <a:r>
                        <a:rPr lang="en-IN" sz="1200" b="1" dirty="0">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latin typeface="Times New Roman" panose="02020603050405020304" pitchFamily="18" charset="0"/>
                          <a:cs typeface="Times New Roman" panose="02020603050405020304" pitchFamily="18" charset="0"/>
                        </a:rPr>
                        <a:t>Parameter</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latin typeface="Times New Roman" panose="02020603050405020304" pitchFamily="18" charset="0"/>
                          <a:cs typeface="Times New Roman" panose="02020603050405020304" pitchFamily="18" charset="0"/>
                        </a:rPr>
                        <a:t>Specification</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6588959"/>
                  </a:ext>
                </a:extLst>
              </a:tr>
              <a:tr h="265485">
                <a:tc>
                  <a:txBody>
                    <a:bodyPr/>
                    <a:lstStyle/>
                    <a:p>
                      <a:pPr>
                        <a:buNone/>
                      </a:pPr>
                      <a:r>
                        <a:rPr lang="en-IN" sz="12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Type of Battery / Accumulator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Lithium-ion Battery Pack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4800131"/>
                  </a:ext>
                </a:extLst>
              </a:tr>
              <a:tr h="265485">
                <a:tc>
                  <a:txBody>
                    <a:bodyPr/>
                    <a:lstStyle/>
                    <a:p>
                      <a:pPr>
                        <a:buNone/>
                      </a:pPr>
                      <a:r>
                        <a:rPr lang="en-IN" sz="12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Individual Cell Voltage /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3.7 V, ~3000 mAh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7221334"/>
                  </a:ext>
                </a:extLst>
              </a:tr>
              <a:tr h="265485">
                <a:tc>
                  <a:txBody>
                    <a:bodyPr/>
                    <a:lstStyle/>
                    <a:p>
                      <a:pPr>
                        <a:buNone/>
                      </a:pPr>
                      <a:r>
                        <a:rPr lang="en-IN" sz="120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Individual Cell Voltage Limits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Min: 3.0 V, Max: 4.2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638410"/>
                  </a:ext>
                </a:extLst>
              </a:tr>
              <a:tr h="265485">
                <a:tc>
                  <a:txBody>
                    <a:bodyPr/>
                    <a:lstStyle/>
                    <a:p>
                      <a:pPr>
                        <a:buNone/>
                      </a:pPr>
                      <a:r>
                        <a:rPr lang="en-IN" sz="1200" dirty="0">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Battery Pack Voltage (Fully Charged)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67.2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6076032"/>
                  </a:ext>
                </a:extLst>
              </a:tr>
              <a:tr h="265485">
                <a:tc>
                  <a:txBody>
                    <a:bodyPr/>
                    <a:lstStyle/>
                    <a:p>
                      <a:pPr>
                        <a:buNone/>
                      </a:pPr>
                      <a:r>
                        <a:rPr lang="en-IN" sz="1200">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Battery Pack Nominal Voltage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60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7379470"/>
                  </a:ext>
                </a:extLst>
              </a:tr>
              <a:tr h="265485">
                <a:tc>
                  <a:txBody>
                    <a:bodyPr/>
                    <a:lstStyle/>
                    <a:p>
                      <a:pPr>
                        <a:buNone/>
                      </a:pPr>
                      <a:r>
                        <a:rPr lang="en-IN" sz="1200">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Battery Pack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90 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6370751"/>
                  </a:ext>
                </a:extLst>
              </a:tr>
              <a:tr h="265485">
                <a:tc>
                  <a:txBody>
                    <a:bodyPr/>
                    <a:lstStyle/>
                    <a:p>
                      <a:pPr>
                        <a:buNone/>
                      </a:pPr>
                      <a:r>
                        <a:rPr lang="en-IN" sz="1200" dirty="0">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Battery Cell Technology / Chemistry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Lithium-ion (NMC)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8927598"/>
                  </a:ext>
                </a:extLst>
              </a:tr>
              <a:tr h="265485">
                <a:tc>
                  <a:txBody>
                    <a:bodyPr/>
                    <a:lstStyle/>
                    <a:p>
                      <a:pPr>
                        <a:buNone/>
                      </a:pPr>
                      <a:r>
                        <a:rPr lang="en-IN" sz="1200" dirty="0">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Number of Cells (Series × Parallel)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16S × 30P (Approx.)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396261"/>
                  </a:ext>
                </a:extLst>
              </a:tr>
              <a:tr h="265485">
                <a:tc>
                  <a:txBody>
                    <a:bodyPr/>
                    <a:lstStyle/>
                    <a:p>
                      <a:pPr>
                        <a:buNone/>
                      </a:pPr>
                      <a:r>
                        <a:rPr lang="en-IN" sz="120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Battery Discharge Power (Peak)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~9 kW (for short duration)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8177350"/>
                  </a:ext>
                </a:extLst>
              </a:tr>
              <a:tr h="265485">
                <a:tc>
                  <a:txBody>
                    <a:bodyPr/>
                    <a:lstStyle/>
                    <a:p>
                      <a:pPr>
                        <a:buNone/>
                      </a:pPr>
                      <a:r>
                        <a:rPr lang="en-IN" sz="1200" dirty="0">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Battery Discharge Power (Continuous)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~5 kW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3586483"/>
                  </a:ext>
                </a:extLst>
              </a:tr>
              <a:tr h="265485">
                <a:tc>
                  <a:txBody>
                    <a:bodyPr/>
                    <a:lstStyle/>
                    <a:p>
                      <a:pPr>
                        <a:buNone/>
                      </a:pPr>
                      <a:r>
                        <a:rPr lang="en-IN" sz="1200">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Battery Full Charging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5–6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941782"/>
                  </a:ext>
                </a:extLst>
              </a:tr>
              <a:tr h="265485">
                <a:tc>
                  <a:txBody>
                    <a:bodyPr/>
                    <a:lstStyle/>
                    <a:p>
                      <a:pPr>
                        <a:buNone/>
                      </a:pPr>
                      <a:r>
                        <a:rPr lang="en-IN" sz="1200">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Battery Charging 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90–95 %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709379"/>
                  </a:ext>
                </a:extLst>
              </a:tr>
              <a:tr h="265485">
                <a:tc>
                  <a:txBody>
                    <a:bodyPr/>
                    <a:lstStyle/>
                    <a:p>
                      <a:pPr>
                        <a:buNone/>
                      </a:pPr>
                      <a:r>
                        <a:rPr lang="en-IN" sz="1200">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Battery Charging 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1.5–2.0 kW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2487044"/>
                  </a:ext>
                </a:extLst>
              </a:tr>
              <a:tr h="265485">
                <a:tc>
                  <a:txBody>
                    <a:bodyPr/>
                    <a:lstStyle/>
                    <a:p>
                      <a:pPr>
                        <a:buNone/>
                      </a:pPr>
                      <a:r>
                        <a:rPr lang="en-IN" sz="1200">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Cooling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Passive Air Cooling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4766430"/>
                  </a:ext>
                </a:extLst>
              </a:tr>
              <a:tr h="265485">
                <a:tc>
                  <a:txBody>
                    <a:bodyPr/>
                    <a:lstStyle/>
                    <a:p>
                      <a:pPr>
                        <a:buNone/>
                      </a:pPr>
                      <a:r>
                        <a:rPr lang="en-IN" sz="1200">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Other Special Components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Battery Management System (BMS)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7330516"/>
                  </a:ext>
                </a:extLst>
              </a:tr>
              <a:tr h="442475">
                <a:tc>
                  <a:txBody>
                    <a:bodyPr/>
                    <a:lstStyle/>
                    <a:p>
                      <a:pPr>
                        <a:buNone/>
                      </a:pPr>
                      <a:r>
                        <a:rPr lang="en-IN" sz="1200" dirty="0">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Auxiliary Battery Specifications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DC-DC Converter (48–72 V input, 12 V / 15 A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1681515"/>
                  </a:ext>
                </a:extLst>
              </a:tr>
            </a:tbl>
          </a:graphicData>
        </a:graphic>
      </p:graphicFrame>
      <p:pic>
        <p:nvPicPr>
          <p:cNvPr id="7" name="Picture 6">
            <a:extLst>
              <a:ext uri="{FF2B5EF4-FFF2-40B4-BE49-F238E27FC236}">
                <a16:creationId xmlns:a16="http://schemas.microsoft.com/office/drawing/2014/main" id="{15EA2202-E269-1A46-9CD2-A804F680E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sp>
        <p:nvSpPr>
          <p:cNvPr id="9" name="TextBox 8">
            <a:extLst>
              <a:ext uri="{FF2B5EF4-FFF2-40B4-BE49-F238E27FC236}">
                <a16:creationId xmlns:a16="http://schemas.microsoft.com/office/drawing/2014/main" id="{F02D48D4-DF07-4F4F-2CA3-5313B7B068D7}"/>
              </a:ext>
            </a:extLst>
          </p:cNvPr>
          <p:cNvSpPr txBox="1"/>
          <p:nvPr/>
        </p:nvSpPr>
        <p:spPr>
          <a:xfrm>
            <a:off x="137160" y="1085619"/>
            <a:ext cx="527151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MOTOR AND </a:t>
            </a:r>
            <a:r>
              <a:rPr lang="en-IN" b="1" dirty="0">
                <a:latin typeface="Times New Roman" panose="02020603050405020304" pitchFamily="18" charset="0"/>
                <a:cs typeface="Times New Roman" panose="02020603050405020304" pitchFamily="18" charset="0"/>
              </a:rPr>
              <a:t>CONTROLLER SPECIFICATION</a:t>
            </a:r>
          </a:p>
        </p:txBody>
      </p:sp>
      <p:sp>
        <p:nvSpPr>
          <p:cNvPr id="10" name="TextBox 9">
            <a:extLst>
              <a:ext uri="{FF2B5EF4-FFF2-40B4-BE49-F238E27FC236}">
                <a16:creationId xmlns:a16="http://schemas.microsoft.com/office/drawing/2014/main" id="{EFF491D4-158E-12B1-A64B-7993D4038D4A}"/>
              </a:ext>
            </a:extLst>
          </p:cNvPr>
          <p:cNvSpPr txBox="1"/>
          <p:nvPr/>
        </p:nvSpPr>
        <p:spPr>
          <a:xfrm>
            <a:off x="6096000" y="1082689"/>
            <a:ext cx="6536394"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ACCUMULATOR / BATTERY SPECIFICATION</a:t>
            </a:r>
          </a:p>
        </p:txBody>
      </p:sp>
      <p:pic>
        <p:nvPicPr>
          <p:cNvPr id="2" name="Picture 1">
            <a:extLst>
              <a:ext uri="{FF2B5EF4-FFF2-40B4-BE49-F238E27FC236}">
                <a16:creationId xmlns:a16="http://schemas.microsoft.com/office/drawing/2014/main" id="{59FDF011-09EC-E4DD-5AC6-A2ECC7646FF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
        <p:nvSpPr>
          <p:cNvPr id="3" name="TextBox 2">
            <a:extLst>
              <a:ext uri="{FF2B5EF4-FFF2-40B4-BE49-F238E27FC236}">
                <a16:creationId xmlns:a16="http://schemas.microsoft.com/office/drawing/2014/main" id="{1711EB6C-AC82-D633-B086-E1F316A462D3}"/>
              </a:ext>
            </a:extLst>
          </p:cNvPr>
          <p:cNvSpPr txBox="1"/>
          <p:nvPr/>
        </p:nvSpPr>
        <p:spPr>
          <a:xfrm>
            <a:off x="2986268" y="268069"/>
            <a:ext cx="5558499"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KART VEHICLE GENERAL DIMENSIONS</a:t>
            </a:r>
          </a:p>
        </p:txBody>
      </p:sp>
    </p:spTree>
    <p:extLst>
      <p:ext uri="{BB962C8B-B14F-4D97-AF65-F5344CB8AC3E}">
        <p14:creationId xmlns:p14="http://schemas.microsoft.com/office/powerpoint/2010/main" val="1761756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569B4432-D5D2-6722-5894-C92E2A7C647F}"/>
              </a:ext>
            </a:extLst>
          </p:cNvPr>
          <p:cNvSpPr/>
          <p:nvPr/>
        </p:nvSpPr>
        <p:spPr>
          <a:xfrm>
            <a:off x="5937812" y="1206744"/>
            <a:ext cx="6254187" cy="5552871"/>
          </a:xfrm>
          <a:prstGeom prst="roundRect">
            <a:avLst>
              <a:gd name="adj" fmla="val 5228"/>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17C1C99-DB3E-C395-0443-23EA43AE934F}"/>
              </a:ext>
            </a:extLst>
          </p:cNvPr>
          <p:cNvSpPr txBox="1"/>
          <p:nvPr/>
        </p:nvSpPr>
        <p:spPr>
          <a:xfrm>
            <a:off x="3677264" y="427759"/>
            <a:ext cx="4247535" cy="707886"/>
          </a:xfrm>
          <a:prstGeom prst="rect">
            <a:avLst/>
          </a:prstGeom>
          <a:noFill/>
        </p:spPr>
        <p:txBody>
          <a:bodyPr wrap="square" rtlCol="0">
            <a:spAutoFit/>
          </a:bodyPr>
          <a:lstStyle/>
          <a:p>
            <a:r>
              <a:rPr lang="en-US" sz="2000" dirty="0"/>
              <a:t>DESIGNING OF STEERING SYSTEM &amp; WHEEL GEOMETRY </a:t>
            </a:r>
            <a:endParaRPr lang="en-IN" sz="20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CEFFF34-B3FA-8098-93A0-CDCA1549F1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12" name="object 6">
            <a:extLst>
              <a:ext uri="{FF2B5EF4-FFF2-40B4-BE49-F238E27FC236}">
                <a16:creationId xmlns:a16="http://schemas.microsoft.com/office/drawing/2014/main" id="{ED94A7A3-33C5-1FFF-DF05-A348B1A9E11E}"/>
              </a:ext>
            </a:extLst>
          </p:cNvPr>
          <p:cNvPicPr/>
          <p:nvPr/>
        </p:nvPicPr>
        <p:blipFill>
          <a:blip r:embed="rId3" cstate="print"/>
          <a:stretch>
            <a:fillRect/>
          </a:stretch>
        </p:blipFill>
        <p:spPr>
          <a:xfrm>
            <a:off x="1261277" y="1735315"/>
            <a:ext cx="3625717" cy="1693685"/>
          </a:xfrm>
          <a:prstGeom prst="rect">
            <a:avLst/>
          </a:prstGeom>
        </p:spPr>
      </p:pic>
      <p:pic>
        <p:nvPicPr>
          <p:cNvPr id="16" name="Picture 15">
            <a:extLst>
              <a:ext uri="{FF2B5EF4-FFF2-40B4-BE49-F238E27FC236}">
                <a16:creationId xmlns:a16="http://schemas.microsoft.com/office/drawing/2014/main" id="{A06A0125-51E0-5B27-B055-2CF1D8554996}"/>
              </a:ext>
            </a:extLst>
          </p:cNvPr>
          <p:cNvPicPr>
            <a:picLocks noChangeAspect="1"/>
          </p:cNvPicPr>
          <p:nvPr/>
        </p:nvPicPr>
        <p:blipFill>
          <a:blip r:embed="rId4"/>
          <a:stretch>
            <a:fillRect/>
          </a:stretch>
        </p:blipFill>
        <p:spPr>
          <a:xfrm>
            <a:off x="1066131" y="3802939"/>
            <a:ext cx="4016007" cy="2723728"/>
          </a:xfrm>
          <a:prstGeom prst="rect">
            <a:avLst/>
          </a:prstGeom>
        </p:spPr>
      </p:pic>
      <p:graphicFrame>
        <p:nvGraphicFramePr>
          <p:cNvPr id="17" name="object 4">
            <a:extLst>
              <a:ext uri="{FF2B5EF4-FFF2-40B4-BE49-F238E27FC236}">
                <a16:creationId xmlns:a16="http://schemas.microsoft.com/office/drawing/2014/main" id="{C4F0E905-6687-F427-D4D3-02B04822C5AD}"/>
              </a:ext>
            </a:extLst>
          </p:cNvPr>
          <p:cNvGraphicFramePr>
            <a:graphicFrameLocks noGrp="1"/>
          </p:cNvGraphicFramePr>
          <p:nvPr>
            <p:extLst>
              <p:ext uri="{D42A27DB-BD31-4B8C-83A1-F6EECF244321}">
                <p14:modId xmlns:p14="http://schemas.microsoft.com/office/powerpoint/2010/main" val="2482142106"/>
              </p:ext>
            </p:extLst>
          </p:nvPr>
        </p:nvGraphicFramePr>
        <p:xfrm>
          <a:off x="6148992" y="1379038"/>
          <a:ext cx="5778001" cy="2829536"/>
        </p:xfrm>
        <a:graphic>
          <a:graphicData uri="http://schemas.openxmlformats.org/drawingml/2006/table">
            <a:tbl>
              <a:tblPr firstRow="1" bandRow="1">
                <a:tableStyleId>{7E9639D4-E3E2-4D34-9284-5A2195B3D0D7}</a:tableStyleId>
              </a:tblPr>
              <a:tblGrid>
                <a:gridCol w="3212181">
                  <a:extLst>
                    <a:ext uri="{9D8B030D-6E8A-4147-A177-3AD203B41FA5}">
                      <a16:colId xmlns:a16="http://schemas.microsoft.com/office/drawing/2014/main" val="20000"/>
                    </a:ext>
                  </a:extLst>
                </a:gridCol>
                <a:gridCol w="2565820">
                  <a:extLst>
                    <a:ext uri="{9D8B030D-6E8A-4147-A177-3AD203B41FA5}">
                      <a16:colId xmlns:a16="http://schemas.microsoft.com/office/drawing/2014/main" val="20001"/>
                    </a:ext>
                  </a:extLst>
                </a:gridCol>
              </a:tblGrid>
              <a:tr h="365265">
                <a:tc>
                  <a:txBody>
                    <a:bodyPr/>
                    <a:lstStyle/>
                    <a:p>
                      <a:pPr marL="91440">
                        <a:lnSpc>
                          <a:spcPct val="100000"/>
                        </a:lnSpc>
                        <a:spcBef>
                          <a:spcPts val="240"/>
                        </a:spcBef>
                      </a:pPr>
                      <a:r>
                        <a:rPr sz="1800" b="1" dirty="0"/>
                        <a:t>Steering</a:t>
                      </a:r>
                      <a:r>
                        <a:rPr sz="1800" b="1" spc="-80" dirty="0"/>
                        <a:t> </a:t>
                      </a:r>
                      <a:r>
                        <a:rPr sz="1800" b="1" spc="-10" dirty="0"/>
                        <a:t>Parameter</a:t>
                      </a:r>
                      <a:endParaRPr sz="1800" dirty="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0"/>
                        </a:spcBef>
                      </a:pPr>
                      <a:r>
                        <a:rPr sz="1800" b="1" dirty="0"/>
                        <a:t>Respective</a:t>
                      </a:r>
                      <a:r>
                        <a:rPr sz="1800" b="1" spc="-95" dirty="0"/>
                        <a:t> </a:t>
                      </a:r>
                      <a:r>
                        <a:rPr sz="1800" b="1" spc="-10" dirty="0"/>
                        <a:t>Values</a:t>
                      </a:r>
                      <a:endParaRPr sz="180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265">
                <a:tc>
                  <a:txBody>
                    <a:bodyPr/>
                    <a:lstStyle/>
                    <a:p>
                      <a:pPr marL="91440">
                        <a:lnSpc>
                          <a:spcPct val="100000"/>
                        </a:lnSpc>
                        <a:spcBef>
                          <a:spcPts val="240"/>
                        </a:spcBef>
                      </a:pPr>
                      <a:r>
                        <a:rPr sz="1800" dirty="0"/>
                        <a:t>Steering</a:t>
                      </a:r>
                      <a:r>
                        <a:rPr sz="1800" spc="-40" dirty="0"/>
                        <a:t> </a:t>
                      </a:r>
                      <a:r>
                        <a:rPr sz="1800" dirty="0"/>
                        <a:t>Wheel</a:t>
                      </a:r>
                      <a:r>
                        <a:rPr sz="1800" spc="-45" dirty="0"/>
                        <a:t> </a:t>
                      </a:r>
                      <a:r>
                        <a:rPr sz="1800" spc="-10" dirty="0"/>
                        <a:t>Radius</a:t>
                      </a:r>
                      <a:endParaRPr sz="1800" dirty="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0"/>
                        </a:spcBef>
                      </a:pPr>
                      <a:r>
                        <a:rPr lang="en-US" sz="1800" dirty="0"/>
                        <a:t>5 inch</a:t>
                      </a:r>
                      <a:endParaRPr sz="1800" dirty="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265">
                <a:tc>
                  <a:txBody>
                    <a:bodyPr/>
                    <a:lstStyle/>
                    <a:p>
                      <a:pPr marL="91440">
                        <a:lnSpc>
                          <a:spcPct val="100000"/>
                        </a:lnSpc>
                        <a:spcBef>
                          <a:spcPts val="240"/>
                        </a:spcBef>
                      </a:pPr>
                      <a:r>
                        <a:rPr sz="1800" dirty="0"/>
                        <a:t>Mechanical</a:t>
                      </a:r>
                      <a:r>
                        <a:rPr sz="1800" spc="-75" dirty="0"/>
                        <a:t> </a:t>
                      </a:r>
                      <a:r>
                        <a:rPr sz="1800" dirty="0"/>
                        <a:t>Linkage</a:t>
                      </a:r>
                      <a:r>
                        <a:rPr sz="1800" spc="-70" dirty="0"/>
                        <a:t> </a:t>
                      </a:r>
                      <a:r>
                        <a:rPr sz="1800" spc="-20" dirty="0"/>
                        <a:t>Ratio</a:t>
                      </a:r>
                      <a:endParaRPr sz="1800" dirty="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0"/>
                        </a:spcBef>
                      </a:pPr>
                      <a:r>
                        <a:rPr lang="en-US" sz="1800" dirty="0"/>
                        <a:t>10:1</a:t>
                      </a:r>
                      <a:endParaRPr sz="1800" dirty="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265">
                <a:tc>
                  <a:txBody>
                    <a:bodyPr/>
                    <a:lstStyle/>
                    <a:p>
                      <a:pPr marL="91440">
                        <a:lnSpc>
                          <a:spcPct val="100000"/>
                        </a:lnSpc>
                        <a:spcBef>
                          <a:spcPts val="240"/>
                        </a:spcBef>
                      </a:pPr>
                      <a:r>
                        <a:rPr sz="1800" spc="-10" dirty="0"/>
                        <a:t>Ackerman</a:t>
                      </a:r>
                      <a:r>
                        <a:rPr sz="1800" spc="-60" dirty="0"/>
                        <a:t> </a:t>
                      </a:r>
                      <a:r>
                        <a:rPr sz="1800" spc="-10" dirty="0"/>
                        <a:t>Percentage</a:t>
                      </a:r>
                      <a:endParaRPr sz="1800" dirty="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0"/>
                        </a:spcBef>
                      </a:pPr>
                      <a:r>
                        <a:rPr lang="en-US" sz="1800" dirty="0"/>
                        <a:t>37.5</a:t>
                      </a:r>
                      <a:endParaRPr sz="1800" dirty="0">
                        <a:latin typeface="Times New Roman" panose="02020603050405020304" pitchFamily="18" charset="0"/>
                        <a:cs typeface="Times New Roman" panose="02020603050405020304" pitchFamily="18" charset="0"/>
                      </a:endParaRPr>
                    </a:p>
                  </a:txBody>
                  <a:tcPr marL="0" marR="0" marT="304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38580">
                <a:tc>
                  <a:txBody>
                    <a:bodyPr/>
                    <a:lstStyle/>
                    <a:p>
                      <a:pPr marL="91440">
                        <a:lnSpc>
                          <a:spcPct val="100000"/>
                        </a:lnSpc>
                        <a:spcBef>
                          <a:spcPts val="245"/>
                        </a:spcBef>
                      </a:pPr>
                      <a:r>
                        <a:rPr sz="1800" dirty="0"/>
                        <a:t>Ackerman</a:t>
                      </a:r>
                      <a:r>
                        <a:rPr sz="1800" spc="-100" dirty="0"/>
                        <a:t> </a:t>
                      </a:r>
                      <a:r>
                        <a:rPr sz="1800" spc="-20" dirty="0"/>
                        <a:t>Angle</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5"/>
                        </a:spcBef>
                      </a:pPr>
                      <a:r>
                        <a:rPr sz="1800" dirty="0"/>
                        <a:t>Inside</a:t>
                      </a:r>
                      <a:r>
                        <a:rPr sz="1800" spc="-25" dirty="0"/>
                        <a:t> </a:t>
                      </a:r>
                      <a:r>
                        <a:rPr sz="1800" dirty="0"/>
                        <a:t>=</a:t>
                      </a:r>
                      <a:r>
                        <a:rPr sz="1800" spc="-15" dirty="0"/>
                        <a:t> </a:t>
                      </a:r>
                      <a:r>
                        <a:rPr lang="en-US" sz="1800" spc="-15" dirty="0"/>
                        <a:t>21 </a:t>
                      </a:r>
                      <a:r>
                        <a:rPr lang="en-IN" dirty="0"/>
                        <a:t>°</a:t>
                      </a:r>
                      <a:endParaRPr lang="en-US" sz="1800" spc="-15" dirty="0"/>
                    </a:p>
                    <a:p>
                      <a:pPr marL="92075">
                        <a:lnSpc>
                          <a:spcPct val="100000"/>
                        </a:lnSpc>
                        <a:spcBef>
                          <a:spcPts val="245"/>
                        </a:spcBef>
                      </a:pPr>
                      <a:r>
                        <a:rPr sz="1800" dirty="0"/>
                        <a:t>Outside</a:t>
                      </a:r>
                      <a:r>
                        <a:rPr sz="1800" spc="-15" dirty="0"/>
                        <a:t> </a:t>
                      </a:r>
                      <a:r>
                        <a:rPr sz="1800" dirty="0"/>
                        <a:t>=</a:t>
                      </a:r>
                      <a:r>
                        <a:rPr lang="en-US" sz="1800" dirty="0"/>
                        <a:t>59 </a:t>
                      </a:r>
                      <a:r>
                        <a:rPr lang="en-IN" dirty="0"/>
                        <a:t>°</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5265">
                <a:tc>
                  <a:txBody>
                    <a:bodyPr/>
                    <a:lstStyle/>
                    <a:p>
                      <a:pPr marL="91440">
                        <a:lnSpc>
                          <a:spcPct val="100000"/>
                        </a:lnSpc>
                        <a:spcBef>
                          <a:spcPts val="245"/>
                        </a:spcBef>
                      </a:pPr>
                      <a:r>
                        <a:rPr sz="1800" spc="-10" dirty="0"/>
                        <a:t>Turning</a:t>
                      </a:r>
                      <a:r>
                        <a:rPr sz="1800" spc="-80" dirty="0"/>
                        <a:t> </a:t>
                      </a:r>
                      <a:r>
                        <a:rPr sz="1800" spc="-10" dirty="0"/>
                        <a:t>Radius</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5"/>
                        </a:spcBef>
                      </a:pPr>
                      <a:r>
                        <a:rPr lang="en-IN" sz="1800" dirty="0"/>
                        <a:t>2.</a:t>
                      </a:r>
                      <a:r>
                        <a:rPr lang="en-US" sz="1800" dirty="0"/>
                        <a:t>7m</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4631">
                <a:tc>
                  <a:txBody>
                    <a:bodyPr/>
                    <a:lstStyle/>
                    <a:p>
                      <a:pPr marL="91440">
                        <a:lnSpc>
                          <a:spcPct val="100000"/>
                        </a:lnSpc>
                        <a:spcBef>
                          <a:spcPts val="245"/>
                        </a:spcBef>
                      </a:pPr>
                      <a:r>
                        <a:rPr sz="1800" dirty="0"/>
                        <a:t>Lock</a:t>
                      </a:r>
                      <a:r>
                        <a:rPr sz="1800" spc="-30" dirty="0"/>
                        <a:t> </a:t>
                      </a:r>
                      <a:r>
                        <a:rPr sz="1800" spc="-80" dirty="0"/>
                        <a:t>To</a:t>
                      </a:r>
                      <a:r>
                        <a:rPr sz="1800" spc="-25" dirty="0"/>
                        <a:t> </a:t>
                      </a:r>
                      <a:r>
                        <a:rPr sz="1800" dirty="0"/>
                        <a:t>Lock</a:t>
                      </a:r>
                      <a:r>
                        <a:rPr sz="1800" spc="-5" dirty="0"/>
                        <a:t> </a:t>
                      </a:r>
                      <a:r>
                        <a:rPr sz="1800" spc="-10" dirty="0"/>
                        <a:t>Distance</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5"/>
                        </a:spcBef>
                      </a:pPr>
                      <a:r>
                        <a:rPr lang="en-US" sz="1800" dirty="0"/>
                        <a:t>-230</a:t>
                      </a:r>
                      <a:r>
                        <a:rPr lang="en-IN" dirty="0"/>
                        <a:t>°</a:t>
                      </a:r>
                      <a:r>
                        <a:rPr lang="en-US" sz="1800" dirty="0"/>
                        <a:t>  to +230</a:t>
                      </a:r>
                      <a:r>
                        <a:rPr lang="en-IN" dirty="0"/>
                        <a:t>°</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18" name="Table 17">
            <a:extLst>
              <a:ext uri="{FF2B5EF4-FFF2-40B4-BE49-F238E27FC236}">
                <a16:creationId xmlns:a16="http://schemas.microsoft.com/office/drawing/2014/main" id="{EB805A46-47F3-D258-5CCA-126F416D88C2}"/>
              </a:ext>
            </a:extLst>
          </p:cNvPr>
          <p:cNvGraphicFramePr>
            <a:graphicFrameLocks noGrp="1"/>
          </p:cNvGraphicFramePr>
          <p:nvPr>
            <p:extLst>
              <p:ext uri="{D42A27DB-BD31-4B8C-83A1-F6EECF244321}">
                <p14:modId xmlns:p14="http://schemas.microsoft.com/office/powerpoint/2010/main" val="2808552459"/>
              </p:ext>
            </p:extLst>
          </p:nvPr>
        </p:nvGraphicFramePr>
        <p:xfrm>
          <a:off x="6133028" y="4208574"/>
          <a:ext cx="5809931" cy="2318093"/>
        </p:xfrm>
        <a:graphic>
          <a:graphicData uri="http://schemas.openxmlformats.org/drawingml/2006/table">
            <a:tbl>
              <a:tblPr firstRow="1" bandRow="1">
                <a:tableStyleId>{7E9639D4-E3E2-4D34-9284-5A2195B3D0D7}</a:tableStyleId>
              </a:tblPr>
              <a:tblGrid>
                <a:gridCol w="1936243">
                  <a:extLst>
                    <a:ext uri="{9D8B030D-6E8A-4147-A177-3AD203B41FA5}">
                      <a16:colId xmlns:a16="http://schemas.microsoft.com/office/drawing/2014/main" val="4241193485"/>
                    </a:ext>
                  </a:extLst>
                </a:gridCol>
                <a:gridCol w="1936844">
                  <a:extLst>
                    <a:ext uri="{9D8B030D-6E8A-4147-A177-3AD203B41FA5}">
                      <a16:colId xmlns:a16="http://schemas.microsoft.com/office/drawing/2014/main" val="1440194129"/>
                    </a:ext>
                  </a:extLst>
                </a:gridCol>
                <a:gridCol w="1936844">
                  <a:extLst>
                    <a:ext uri="{9D8B030D-6E8A-4147-A177-3AD203B41FA5}">
                      <a16:colId xmlns:a16="http://schemas.microsoft.com/office/drawing/2014/main" val="4192351255"/>
                    </a:ext>
                  </a:extLst>
                </a:gridCol>
              </a:tblGrid>
              <a:tr h="473117">
                <a:tc>
                  <a:txBody>
                    <a:bodyPr/>
                    <a:lstStyle/>
                    <a:p>
                      <a:pPr marL="91440">
                        <a:lnSpc>
                          <a:spcPct val="100000"/>
                        </a:lnSpc>
                        <a:spcBef>
                          <a:spcPts val="245"/>
                        </a:spcBef>
                      </a:pPr>
                      <a:r>
                        <a:rPr sz="1800" b="1" dirty="0"/>
                        <a:t>Inside</a:t>
                      </a:r>
                      <a:r>
                        <a:rPr sz="1800" b="1" spc="-35" dirty="0"/>
                        <a:t> </a:t>
                      </a:r>
                      <a:r>
                        <a:rPr sz="1800" b="1" spc="-20" dirty="0"/>
                        <a:t>Angle</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nSpc>
                          <a:spcPct val="100000"/>
                        </a:lnSpc>
                        <a:spcBef>
                          <a:spcPts val="245"/>
                        </a:spcBef>
                      </a:pPr>
                      <a:r>
                        <a:rPr sz="1800" b="1" dirty="0"/>
                        <a:t>Outside</a:t>
                      </a:r>
                      <a:r>
                        <a:rPr sz="1800" b="1" spc="-15" dirty="0"/>
                        <a:t> </a:t>
                      </a:r>
                      <a:r>
                        <a:rPr sz="1800" b="1" spc="-20" dirty="0"/>
                        <a:t>Angle</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5"/>
                        </a:spcBef>
                      </a:pPr>
                      <a:r>
                        <a:rPr sz="1800" b="1" spc="-10" dirty="0"/>
                        <a:t>Turning</a:t>
                      </a:r>
                      <a:r>
                        <a:rPr sz="1800" b="1" spc="-50" dirty="0"/>
                        <a:t> </a:t>
                      </a:r>
                      <a:r>
                        <a:rPr sz="1800" b="1" spc="-10" dirty="0"/>
                        <a:t>Radius</a:t>
                      </a:r>
                      <a:endParaRPr sz="180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3931270"/>
                  </a:ext>
                </a:extLst>
              </a:tr>
              <a:tr h="461244">
                <a:tc>
                  <a:txBody>
                    <a:bodyPr/>
                    <a:lstStyle/>
                    <a:p>
                      <a:pPr marL="91440">
                        <a:lnSpc>
                          <a:spcPct val="100000"/>
                        </a:lnSpc>
                        <a:spcBef>
                          <a:spcPts val="245"/>
                        </a:spcBef>
                      </a:pPr>
                      <a:r>
                        <a:rPr sz="1800" spc="-25" dirty="0"/>
                        <a:t>10°</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nSpc>
                          <a:spcPct val="100000"/>
                        </a:lnSpc>
                        <a:spcBef>
                          <a:spcPts val="245"/>
                        </a:spcBef>
                      </a:pPr>
                      <a:r>
                        <a:rPr sz="1800" spc="-10" dirty="0"/>
                        <a:t>9.00°</a:t>
                      </a:r>
                      <a:endParaRPr sz="180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5"/>
                        </a:spcBef>
                      </a:pPr>
                      <a:r>
                        <a:rPr sz="1800" dirty="0"/>
                        <a:t>6.47 </a:t>
                      </a:r>
                      <a:r>
                        <a:rPr sz="1800" spc="-50" dirty="0"/>
                        <a:t>m</a:t>
                      </a:r>
                      <a:endParaRPr sz="180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733623"/>
                  </a:ext>
                </a:extLst>
              </a:tr>
              <a:tr h="461244">
                <a:tc>
                  <a:txBody>
                    <a:bodyPr/>
                    <a:lstStyle/>
                    <a:p>
                      <a:pPr marL="91440">
                        <a:lnSpc>
                          <a:spcPct val="100000"/>
                        </a:lnSpc>
                        <a:spcBef>
                          <a:spcPts val="245"/>
                        </a:spcBef>
                      </a:pPr>
                      <a:r>
                        <a:rPr sz="1800" spc="-25" dirty="0"/>
                        <a:t>20°</a:t>
                      </a:r>
                      <a:endParaRPr sz="180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nSpc>
                          <a:spcPct val="100000"/>
                        </a:lnSpc>
                        <a:spcBef>
                          <a:spcPts val="245"/>
                        </a:spcBef>
                      </a:pPr>
                      <a:r>
                        <a:rPr sz="1800" spc="-10" dirty="0"/>
                        <a:t>16.44°</a:t>
                      </a:r>
                      <a:endParaRPr sz="1800" dirty="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45"/>
                        </a:spcBef>
                      </a:pPr>
                      <a:r>
                        <a:rPr sz="1800" dirty="0"/>
                        <a:t>3.376 </a:t>
                      </a:r>
                      <a:r>
                        <a:rPr sz="1800" spc="-50" dirty="0"/>
                        <a:t>m</a:t>
                      </a:r>
                      <a:endParaRPr sz="1800">
                        <a:latin typeface="Times New Roman" panose="02020603050405020304" pitchFamily="18" charset="0"/>
                        <a:cs typeface="Times New Roman" panose="02020603050405020304" pitchFamily="18" charset="0"/>
                      </a:endParaRPr>
                    </a:p>
                  </a:txBody>
                  <a:tcPr marL="0" marR="0" marT="31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4400570"/>
                  </a:ext>
                </a:extLst>
              </a:tr>
              <a:tr h="461244">
                <a:tc>
                  <a:txBody>
                    <a:bodyPr/>
                    <a:lstStyle/>
                    <a:p>
                      <a:pPr marL="91440">
                        <a:lnSpc>
                          <a:spcPct val="100000"/>
                        </a:lnSpc>
                        <a:spcBef>
                          <a:spcPts val="250"/>
                        </a:spcBef>
                      </a:pPr>
                      <a:r>
                        <a:rPr sz="1800" spc="-25" dirty="0"/>
                        <a:t>30°</a:t>
                      </a:r>
                      <a:endParaRPr sz="1800">
                        <a:latin typeface="Times New Roman" panose="02020603050405020304" pitchFamily="18" charset="0"/>
                        <a:cs typeface="Times New Roman" panose="02020603050405020304" pitchFamily="18" charset="0"/>
                      </a:endParaRPr>
                    </a:p>
                  </a:txBody>
                  <a:tcPr marL="0" marR="0" marT="317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nSpc>
                          <a:spcPct val="100000"/>
                        </a:lnSpc>
                        <a:spcBef>
                          <a:spcPts val="250"/>
                        </a:spcBef>
                      </a:pPr>
                      <a:r>
                        <a:rPr sz="1800" spc="-10" dirty="0"/>
                        <a:t>22.86°</a:t>
                      </a:r>
                      <a:endParaRPr sz="1800" dirty="0">
                        <a:latin typeface="Times New Roman" panose="02020603050405020304" pitchFamily="18" charset="0"/>
                        <a:cs typeface="Times New Roman" panose="02020603050405020304" pitchFamily="18" charset="0"/>
                      </a:endParaRPr>
                    </a:p>
                  </a:txBody>
                  <a:tcPr marL="0" marR="0" marT="317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50"/>
                        </a:spcBef>
                      </a:pPr>
                      <a:r>
                        <a:rPr sz="1800" dirty="0"/>
                        <a:t>2.36 </a:t>
                      </a:r>
                      <a:r>
                        <a:rPr sz="1800" spc="-50" dirty="0"/>
                        <a:t>m</a:t>
                      </a:r>
                      <a:endParaRPr sz="1800">
                        <a:latin typeface="Times New Roman" panose="02020603050405020304" pitchFamily="18" charset="0"/>
                        <a:cs typeface="Times New Roman" panose="02020603050405020304" pitchFamily="18" charset="0"/>
                      </a:endParaRPr>
                    </a:p>
                  </a:txBody>
                  <a:tcPr marL="0" marR="0" marT="317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0484690"/>
                  </a:ext>
                </a:extLst>
              </a:tr>
              <a:tr h="461244">
                <a:tc>
                  <a:txBody>
                    <a:bodyPr/>
                    <a:lstStyle/>
                    <a:p>
                      <a:pPr marL="91440">
                        <a:lnSpc>
                          <a:spcPct val="100000"/>
                        </a:lnSpc>
                        <a:spcBef>
                          <a:spcPts val="250"/>
                        </a:spcBef>
                      </a:pPr>
                      <a:r>
                        <a:rPr sz="1800" spc="-25" dirty="0"/>
                        <a:t>40°</a:t>
                      </a:r>
                      <a:endParaRPr sz="1800">
                        <a:latin typeface="Times New Roman" panose="02020603050405020304" pitchFamily="18" charset="0"/>
                        <a:cs typeface="Times New Roman" panose="02020603050405020304" pitchFamily="18" charset="0"/>
                      </a:endParaRPr>
                    </a:p>
                  </a:txBody>
                  <a:tcPr marL="0" marR="0" marT="317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nSpc>
                          <a:spcPct val="100000"/>
                        </a:lnSpc>
                        <a:spcBef>
                          <a:spcPts val="250"/>
                        </a:spcBef>
                      </a:pPr>
                      <a:r>
                        <a:rPr sz="1800" spc="-10" dirty="0"/>
                        <a:t>28.63°</a:t>
                      </a:r>
                      <a:endParaRPr sz="1800" dirty="0">
                        <a:latin typeface="Times New Roman" panose="02020603050405020304" pitchFamily="18" charset="0"/>
                        <a:cs typeface="Times New Roman" panose="02020603050405020304" pitchFamily="18" charset="0"/>
                      </a:endParaRPr>
                    </a:p>
                  </a:txBody>
                  <a:tcPr marL="0" marR="0" marT="317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2075">
                        <a:lnSpc>
                          <a:spcPct val="100000"/>
                        </a:lnSpc>
                        <a:spcBef>
                          <a:spcPts val="250"/>
                        </a:spcBef>
                      </a:pPr>
                      <a:r>
                        <a:rPr sz="1800" dirty="0"/>
                        <a:t>1.88 </a:t>
                      </a:r>
                      <a:r>
                        <a:rPr sz="1800" spc="-50" dirty="0"/>
                        <a:t>m</a:t>
                      </a:r>
                      <a:endParaRPr sz="1800" dirty="0">
                        <a:latin typeface="Times New Roman" panose="02020603050405020304" pitchFamily="18" charset="0"/>
                        <a:cs typeface="Times New Roman" panose="02020603050405020304" pitchFamily="18" charset="0"/>
                      </a:endParaRPr>
                    </a:p>
                  </a:txBody>
                  <a:tcPr marL="0" marR="0" marT="317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3181982"/>
                  </a:ext>
                </a:extLst>
              </a:tr>
            </a:tbl>
          </a:graphicData>
        </a:graphic>
      </p:graphicFrame>
      <p:pic>
        <p:nvPicPr>
          <p:cNvPr id="2" name="Picture 1">
            <a:extLst>
              <a:ext uri="{FF2B5EF4-FFF2-40B4-BE49-F238E27FC236}">
                <a16:creationId xmlns:a16="http://schemas.microsoft.com/office/drawing/2014/main" id="{4C5B4CBE-C63F-6FC6-C0AD-9B0B48681B6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1889884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4FD7D8-FCE3-A5AB-6848-270006871FE2}"/>
              </a:ext>
            </a:extLst>
          </p:cNvPr>
          <p:cNvSpPr txBox="1"/>
          <p:nvPr/>
        </p:nvSpPr>
        <p:spPr>
          <a:xfrm>
            <a:off x="3104442" y="362674"/>
            <a:ext cx="5983115" cy="70788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DESIGNING OF BRAKING SYSTEM &amp; WEIGHT DISTRIBUTION </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477A36C-AAB7-7275-9919-A0784CE1F9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6" name="Picture 5">
            <a:extLst>
              <a:ext uri="{FF2B5EF4-FFF2-40B4-BE49-F238E27FC236}">
                <a16:creationId xmlns:a16="http://schemas.microsoft.com/office/drawing/2014/main" id="{D3B341B3-902F-B873-8D30-C48168FAD9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3080" y="1381580"/>
            <a:ext cx="2382348" cy="2045198"/>
          </a:xfrm>
          <a:prstGeom prst="rect">
            <a:avLst/>
          </a:prstGeom>
        </p:spPr>
      </p:pic>
      <p:pic>
        <p:nvPicPr>
          <p:cNvPr id="7" name="object 5">
            <a:extLst>
              <a:ext uri="{FF2B5EF4-FFF2-40B4-BE49-F238E27FC236}">
                <a16:creationId xmlns:a16="http://schemas.microsoft.com/office/drawing/2014/main" id="{1302FD72-5D6C-9B7B-9269-D48C5A35141F}"/>
              </a:ext>
            </a:extLst>
          </p:cNvPr>
          <p:cNvPicPr/>
          <p:nvPr/>
        </p:nvPicPr>
        <p:blipFill>
          <a:blip r:embed="rId5" cstate="print"/>
          <a:stretch>
            <a:fillRect/>
          </a:stretch>
        </p:blipFill>
        <p:spPr>
          <a:xfrm>
            <a:off x="457200" y="3898402"/>
            <a:ext cx="4373678" cy="1902508"/>
          </a:xfrm>
          <a:prstGeom prst="rect">
            <a:avLst/>
          </a:prstGeom>
        </p:spPr>
      </p:pic>
      <p:sp>
        <p:nvSpPr>
          <p:cNvPr id="8" name="object 7">
            <a:extLst>
              <a:ext uri="{FF2B5EF4-FFF2-40B4-BE49-F238E27FC236}">
                <a16:creationId xmlns:a16="http://schemas.microsoft.com/office/drawing/2014/main" id="{E6E9D407-A5EC-E408-5C24-A973617EDF1A}"/>
              </a:ext>
            </a:extLst>
          </p:cNvPr>
          <p:cNvSpPr txBox="1"/>
          <p:nvPr/>
        </p:nvSpPr>
        <p:spPr>
          <a:xfrm>
            <a:off x="1091383" y="6109708"/>
            <a:ext cx="2854045"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Fig.</a:t>
            </a:r>
            <a:r>
              <a:rPr sz="1800" b="1" spc="-5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Disk</a:t>
            </a:r>
            <a:r>
              <a:rPr sz="1800" b="1" spc="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vs.</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drum</a:t>
            </a:r>
            <a:r>
              <a:rPr sz="1800" b="1" spc="-10" dirty="0">
                <a:latin typeface="Times New Roman" panose="02020603050405020304" pitchFamily="18" charset="0"/>
                <a:cs typeface="Times New Roman" panose="02020603050405020304" pitchFamily="18" charset="0"/>
              </a:rPr>
              <a:t> </a:t>
            </a:r>
            <a:r>
              <a:rPr sz="1800" b="1" spc="-20" dirty="0">
                <a:latin typeface="Times New Roman" panose="02020603050405020304" pitchFamily="18" charset="0"/>
                <a:cs typeface="Times New Roman" panose="02020603050405020304" pitchFamily="18" charset="0"/>
              </a:rPr>
              <a:t>Graph</a:t>
            </a:r>
            <a:endParaRPr sz="18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8B24D4B3-BE6B-5A63-6DD8-C04F7243687D}"/>
              </a:ext>
            </a:extLst>
          </p:cNvPr>
          <p:cNvGraphicFramePr>
            <a:graphicFrameLocks noGrp="1"/>
          </p:cNvGraphicFramePr>
          <p:nvPr>
            <p:extLst>
              <p:ext uri="{D42A27DB-BD31-4B8C-83A1-F6EECF244321}">
                <p14:modId xmlns:p14="http://schemas.microsoft.com/office/powerpoint/2010/main" val="460894454"/>
              </p:ext>
            </p:extLst>
          </p:nvPr>
        </p:nvGraphicFramePr>
        <p:xfrm>
          <a:off x="6031694" y="1383802"/>
          <a:ext cx="5461012" cy="5111524"/>
        </p:xfrm>
        <a:graphic>
          <a:graphicData uri="http://schemas.openxmlformats.org/drawingml/2006/table">
            <a:tbl>
              <a:tblPr firstRow="1" bandRow="1">
                <a:tableStyleId>{2D5ABB26-0587-4C30-8999-92F81FD0307C}</a:tableStyleId>
              </a:tblPr>
              <a:tblGrid>
                <a:gridCol w="2730506">
                  <a:extLst>
                    <a:ext uri="{9D8B030D-6E8A-4147-A177-3AD203B41FA5}">
                      <a16:colId xmlns:a16="http://schemas.microsoft.com/office/drawing/2014/main" val="3483028196"/>
                    </a:ext>
                  </a:extLst>
                </a:gridCol>
                <a:gridCol w="2730506">
                  <a:extLst>
                    <a:ext uri="{9D8B030D-6E8A-4147-A177-3AD203B41FA5}">
                      <a16:colId xmlns:a16="http://schemas.microsoft.com/office/drawing/2014/main" val="2791209144"/>
                    </a:ext>
                  </a:extLst>
                </a:gridCol>
              </a:tblGrid>
              <a:tr h="407397">
                <a:tc>
                  <a:txBody>
                    <a:bodyPr/>
                    <a:lstStyle/>
                    <a:p>
                      <a:pPr>
                        <a:buNone/>
                      </a:pPr>
                      <a:r>
                        <a:rPr lang="en-IN" sz="1200" dirty="0"/>
                        <a:t>Parameter</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Value / Note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577012"/>
                  </a:ext>
                </a:extLst>
              </a:tr>
              <a:tr h="316540">
                <a:tc>
                  <a:txBody>
                    <a:bodyPr/>
                    <a:lstStyle/>
                    <a:p>
                      <a:pPr>
                        <a:buNone/>
                      </a:pPr>
                      <a:r>
                        <a:rPr lang="en-IN" sz="1200"/>
                        <a:t>Brake Pedal Ratio</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4–5:1</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7094355"/>
                  </a:ext>
                </a:extLst>
              </a:tr>
              <a:tr h="407397">
                <a:tc>
                  <a:txBody>
                    <a:bodyPr/>
                    <a:lstStyle/>
                    <a:p>
                      <a:pPr>
                        <a:buNone/>
                      </a:pPr>
                      <a:r>
                        <a:rPr lang="en-IN" sz="1200" dirty="0"/>
                        <a:t>Human Pedal Force</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~300–400 N</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3845853"/>
                  </a:ext>
                </a:extLst>
              </a:tr>
              <a:tr h="316540">
                <a:tc>
                  <a:txBody>
                    <a:bodyPr/>
                    <a:lstStyle/>
                    <a:p>
                      <a:pPr>
                        <a:buNone/>
                      </a:pPr>
                      <a:r>
                        <a:rPr lang="en-IN" sz="1200"/>
                        <a:t>Master Cylinder Force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Pedal ratio × human force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318084"/>
                  </a:ext>
                </a:extLst>
              </a:tr>
              <a:tr h="553944">
                <a:tc>
                  <a:txBody>
                    <a:bodyPr/>
                    <a:lstStyle/>
                    <a:p>
                      <a:pPr>
                        <a:buNone/>
                      </a:pPr>
                      <a:r>
                        <a:rPr lang="en-IN" sz="1200"/>
                        <a:t>Brake Line Pressure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P = F / A (A = caliper piston area)</a:t>
                      </a:r>
                      <a:endParaRPr lang="en-US"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5413764"/>
                  </a:ext>
                </a:extLst>
              </a:tr>
              <a:tr h="553944">
                <a:tc>
                  <a:txBody>
                    <a:bodyPr/>
                    <a:lstStyle/>
                    <a:p>
                      <a:pPr>
                        <a:buNone/>
                      </a:pPr>
                      <a:r>
                        <a:rPr lang="en-IN" sz="1200" dirty="0"/>
                        <a:t>Clamping Force</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Piston area × hydraulic pressure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751830"/>
                  </a:ext>
                </a:extLst>
              </a:tr>
              <a:tr h="407397">
                <a:tc>
                  <a:txBody>
                    <a:bodyPr/>
                    <a:lstStyle/>
                    <a:p>
                      <a:pPr>
                        <a:buNone/>
                      </a:pPr>
                      <a:r>
                        <a:rPr lang="en-IN" sz="1200"/>
                        <a:t>Brake Torque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pt-BR" sz="1200"/>
                        <a:t>T = F × R (R ≈ 0.11–0.12 m)</a:t>
                      </a:r>
                      <a:endParaRPr lang="pt-BR"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935163"/>
                  </a:ext>
                </a:extLst>
              </a:tr>
              <a:tr h="316540">
                <a:tc>
                  <a:txBody>
                    <a:bodyPr/>
                    <a:lstStyle/>
                    <a:p>
                      <a:pPr>
                        <a:buNone/>
                      </a:pPr>
                      <a:r>
                        <a:rPr lang="en-IN" sz="1200"/>
                        <a:t>Friction Coefficient</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Pad vs Disc ≈ 0.35–0.4</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90477"/>
                  </a:ext>
                </a:extLst>
              </a:tr>
              <a:tr h="553944">
                <a:tc>
                  <a:txBody>
                    <a:bodyPr/>
                    <a:lstStyle/>
                    <a:p>
                      <a:pPr>
                        <a:buNone/>
                      </a:pPr>
                      <a:r>
                        <a:rPr lang="en-IN" sz="1200" dirty="0"/>
                        <a:t>Thermal Note</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Rear brakes heat less; disc thickness ~4–5 mm</a:t>
                      </a:r>
                      <a:endParaRPr lang="en-US"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452143"/>
                  </a:ext>
                </a:extLst>
              </a:tr>
              <a:tr h="316540">
                <a:tc>
                  <a:txBody>
                    <a:bodyPr/>
                    <a:lstStyle/>
                    <a:p>
                      <a:pPr>
                        <a:buNone/>
                      </a:pPr>
                      <a:r>
                        <a:rPr lang="en-IN" sz="1200"/>
                        <a:t>Tyre-Road Friction</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µ ≈ 0.7</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2577815"/>
                  </a:ext>
                </a:extLst>
              </a:tr>
              <a:tr h="553944">
                <a:tc>
                  <a:txBody>
                    <a:bodyPr/>
                    <a:lstStyle/>
                    <a:p>
                      <a:pPr>
                        <a:buNone/>
                      </a:pPr>
                      <a:r>
                        <a:rPr lang="en-IN" sz="1200"/>
                        <a:t>Stopping Distance/Time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From kart mass, speed, brake torque; t = v / a</a:t>
                      </a:r>
                      <a:endParaRPr lang="en-US"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72210"/>
                  </a:ext>
                </a:extLst>
              </a:tr>
              <a:tr h="407397">
                <a:tc>
                  <a:txBody>
                    <a:bodyPr/>
                    <a:lstStyle/>
                    <a:p>
                      <a:pPr>
                        <a:buNone/>
                      </a:pPr>
                      <a:r>
                        <a:rPr lang="en-IN" sz="1200"/>
                        <a:t>Parameter</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t>Value / Note</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7853160"/>
                  </a:ext>
                </a:extLst>
              </a:tr>
            </a:tbl>
          </a:graphicData>
        </a:graphic>
      </p:graphicFrame>
      <p:pic>
        <p:nvPicPr>
          <p:cNvPr id="5" name="Picture 4">
            <a:extLst>
              <a:ext uri="{FF2B5EF4-FFF2-40B4-BE49-F238E27FC236}">
                <a16:creationId xmlns:a16="http://schemas.microsoft.com/office/drawing/2014/main" id="{0CEFC2C4-3820-3A21-C886-EDE3B34BFE47}"/>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3758439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13E81-A0E6-8F3F-9FA5-6BF93E651DBB}"/>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AA9F07E-8372-0A34-75BA-B9228BF7E84C}"/>
              </a:ext>
            </a:extLst>
          </p:cNvPr>
          <p:cNvSpPr/>
          <p:nvPr/>
        </p:nvSpPr>
        <p:spPr>
          <a:xfrm>
            <a:off x="179111" y="1219201"/>
            <a:ext cx="11833778" cy="5525728"/>
          </a:xfrm>
          <a:prstGeom prst="roundRect">
            <a:avLst>
              <a:gd name="adj" fmla="val 5228"/>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45695D1-D31E-359E-66D2-24985B83DB41}"/>
              </a:ext>
            </a:extLst>
          </p:cNvPr>
          <p:cNvSpPr txBox="1"/>
          <p:nvPr/>
        </p:nvSpPr>
        <p:spPr>
          <a:xfrm>
            <a:off x="3104442" y="362674"/>
            <a:ext cx="5983115" cy="400110"/>
          </a:xfrm>
          <a:prstGeom prst="rect">
            <a:avLst/>
          </a:prstGeom>
          <a:noFill/>
        </p:spPr>
        <p:txBody>
          <a:bodyPr wrap="square" rtlCol="0">
            <a:spAutoFit/>
          </a:bodyPr>
          <a:lstStyle/>
          <a:p>
            <a:pPr algn="ctr"/>
            <a:r>
              <a:rPr lang="en-IN" sz="2000" dirty="0"/>
              <a:t>POWER TRAIN CALCULATION &amp; ELECTRICALS</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60A3D83-0750-E74D-B0D7-3D91170E9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graphicFrame>
        <p:nvGraphicFramePr>
          <p:cNvPr id="5" name="Table 4">
            <a:extLst>
              <a:ext uri="{FF2B5EF4-FFF2-40B4-BE49-F238E27FC236}">
                <a16:creationId xmlns:a16="http://schemas.microsoft.com/office/drawing/2014/main" id="{E7F1E5A2-863F-E1D3-60F9-F7F4BC21A387}"/>
              </a:ext>
            </a:extLst>
          </p:cNvPr>
          <p:cNvGraphicFramePr>
            <a:graphicFrameLocks noGrp="1"/>
          </p:cNvGraphicFramePr>
          <p:nvPr>
            <p:extLst>
              <p:ext uri="{D42A27DB-BD31-4B8C-83A1-F6EECF244321}">
                <p14:modId xmlns:p14="http://schemas.microsoft.com/office/powerpoint/2010/main" val="1786553443"/>
              </p:ext>
            </p:extLst>
          </p:nvPr>
        </p:nvGraphicFramePr>
        <p:xfrm>
          <a:off x="674576" y="2013565"/>
          <a:ext cx="4852217" cy="3937000"/>
        </p:xfrm>
        <a:graphic>
          <a:graphicData uri="http://schemas.openxmlformats.org/drawingml/2006/table">
            <a:tbl>
              <a:tblPr firstRow="1" bandRow="1">
                <a:tableStyleId>{2D5ABB26-0587-4C30-8999-92F81FD0307C}</a:tableStyleId>
              </a:tblPr>
              <a:tblGrid>
                <a:gridCol w="2632329">
                  <a:extLst>
                    <a:ext uri="{9D8B030D-6E8A-4147-A177-3AD203B41FA5}">
                      <a16:colId xmlns:a16="http://schemas.microsoft.com/office/drawing/2014/main" val="3001899421"/>
                    </a:ext>
                  </a:extLst>
                </a:gridCol>
                <a:gridCol w="2219888">
                  <a:extLst>
                    <a:ext uri="{9D8B030D-6E8A-4147-A177-3AD203B41FA5}">
                      <a16:colId xmlns:a16="http://schemas.microsoft.com/office/drawing/2014/main" val="2072024344"/>
                    </a:ext>
                  </a:extLst>
                </a:gridCol>
              </a:tblGrid>
              <a:tr h="370840">
                <a:tc>
                  <a:txBody>
                    <a:bodyPr/>
                    <a:lstStyle/>
                    <a:p>
                      <a:pPr algn="ctr">
                        <a:buNone/>
                      </a:pPr>
                      <a:r>
                        <a:rPr lang="en-IN" sz="1400" b="1" dirty="0">
                          <a:latin typeface="Times New Roman" panose="02020603050405020304" pitchFamily="18" charset="0"/>
                          <a:ea typeface="Tahoma" panose="020B0604030504040204" pitchFamily="34" charset="0"/>
                          <a:cs typeface="Times New Roman" panose="02020603050405020304" pitchFamily="18" charset="0"/>
                        </a:rPr>
                        <a:t>Parameter</a:t>
                      </a:r>
                      <a:endParaRPr lang="en-IN" sz="1400" dirty="0">
                        <a:latin typeface="Times New Roman" panose="02020603050405020304" pitchFamily="18" charset="0"/>
                        <a:ea typeface="Tahoma" panose="020B060403050404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b="1">
                          <a:latin typeface="Times New Roman" panose="02020603050405020304" pitchFamily="18" charset="0"/>
                          <a:ea typeface="Tahoma" panose="020B0604030504040204" pitchFamily="34" charset="0"/>
                          <a:cs typeface="Times New Roman" panose="02020603050405020304" pitchFamily="18" charset="0"/>
                        </a:rPr>
                        <a:t>Specification</a:t>
                      </a:r>
                      <a:endParaRPr lang="en-IN" sz="1400">
                        <a:latin typeface="Times New Roman" panose="02020603050405020304" pitchFamily="18" charset="0"/>
                        <a:ea typeface="Tahoma" panose="020B060403050404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4123176"/>
                  </a:ext>
                </a:extLst>
              </a:tr>
              <a:tr h="370840">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Motor Configuration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pl-PL" sz="1400" dirty="0">
                          <a:latin typeface="Times New Roman" panose="02020603050405020304" pitchFamily="18" charset="0"/>
                          <a:ea typeface="Tahoma" panose="020B0604030504040204" pitchFamily="34" charset="0"/>
                          <a:cs typeface="Times New Roman" panose="02020603050405020304" pitchFamily="18" charset="0"/>
                        </a:rPr>
                        <a:t>5 kW, 60 V PMSM (within 6 kW limit)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0027911"/>
                  </a:ext>
                </a:extLst>
              </a:tr>
              <a:tr h="370840">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Power Transmission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Chain Drive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7310881"/>
                  </a:ext>
                </a:extLst>
              </a:tr>
              <a:tr h="370840">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Motor Sprocket Teeth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latin typeface="Times New Roman" panose="02020603050405020304" pitchFamily="18" charset="0"/>
                          <a:ea typeface="Tahoma" panose="020B0604030504040204" pitchFamily="34" charset="0"/>
                          <a:cs typeface="Times New Roman" panose="02020603050405020304" pitchFamily="18" charset="0"/>
                        </a:rPr>
                        <a:t>12 Teeth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225431"/>
                  </a:ext>
                </a:extLst>
              </a:tr>
              <a:tr h="370840">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Motor Sprocket Diameter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~60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4254995"/>
                  </a:ext>
                </a:extLst>
              </a:tr>
              <a:tr h="0">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Final Gear Teeth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48 Teeth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023428"/>
                  </a:ext>
                </a:extLst>
              </a:tr>
              <a:tr h="370840">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Final Gear Diameter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~240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9928919"/>
                  </a:ext>
                </a:extLst>
              </a:tr>
              <a:tr h="370840">
                <a:tc>
                  <a:txBody>
                    <a:bodyPr/>
                    <a:lstStyle/>
                    <a:p>
                      <a:pPr algn="ctr">
                        <a:buNone/>
                      </a:pPr>
                      <a:r>
                        <a:rPr lang="en-IN" sz="1400">
                          <a:latin typeface="Times New Roman" panose="02020603050405020304" pitchFamily="18" charset="0"/>
                          <a:ea typeface="Tahoma" panose="020B0604030504040204" pitchFamily="34" charset="0"/>
                          <a:cs typeface="Times New Roman" panose="02020603050405020304" pitchFamily="18" charset="0"/>
                        </a:rPr>
                        <a:t>Final Drive 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4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3207568"/>
                  </a:ext>
                </a:extLst>
              </a:tr>
              <a:tr h="370840">
                <a:tc>
                  <a:txBody>
                    <a:bodyPr/>
                    <a:lstStyle/>
                    <a:p>
                      <a:pPr algn="ctr">
                        <a:buNone/>
                      </a:pPr>
                      <a:r>
                        <a:rPr lang="en-IN" sz="1400">
                          <a:latin typeface="Times New Roman" panose="02020603050405020304" pitchFamily="18" charset="0"/>
                          <a:ea typeface="Tahoma" panose="020B0604030504040204" pitchFamily="34" charset="0"/>
                          <a:cs typeface="Times New Roman" panose="02020603050405020304" pitchFamily="18" charset="0"/>
                        </a:rPr>
                        <a:t>Drive Shaft Diameter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25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815904"/>
                  </a:ext>
                </a:extLst>
              </a:tr>
              <a:tr h="370840">
                <a:tc>
                  <a:txBody>
                    <a:bodyPr/>
                    <a:lstStyle/>
                    <a:p>
                      <a:pPr algn="ctr">
                        <a:buNone/>
                      </a:pPr>
                      <a:r>
                        <a:rPr lang="en-IN" sz="1400" dirty="0">
                          <a:latin typeface="Times New Roman" panose="02020603050405020304" pitchFamily="18" charset="0"/>
                          <a:ea typeface="Tahoma" panose="020B0604030504040204" pitchFamily="34" charset="0"/>
                          <a:cs typeface="Times New Roman" panose="02020603050405020304" pitchFamily="18" charset="0"/>
                        </a:rPr>
                        <a:t>Keyway Dimension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dirty="0">
                          <a:latin typeface="Times New Roman" panose="02020603050405020304" pitchFamily="18" charset="0"/>
                          <a:ea typeface="Tahoma" panose="020B0604030504040204" pitchFamily="34" charset="0"/>
                          <a:cs typeface="Times New Roman" panose="02020603050405020304" pitchFamily="18" charset="0"/>
                        </a:rPr>
                        <a:t>8 mm × 7 mm (Parallel Key)</a:t>
                      </a:r>
                      <a:endParaRPr lang="en-IN" sz="1400" dirty="0">
                        <a:latin typeface="Times New Roman" panose="02020603050405020304" pitchFamily="18" charset="0"/>
                        <a:ea typeface="Tahoma" panose="020B060403050404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361373"/>
                  </a:ext>
                </a:extLst>
              </a:tr>
            </a:tbl>
          </a:graphicData>
        </a:graphic>
      </p:graphicFrame>
      <p:graphicFrame>
        <p:nvGraphicFramePr>
          <p:cNvPr id="9" name="Table 8">
            <a:extLst>
              <a:ext uri="{FF2B5EF4-FFF2-40B4-BE49-F238E27FC236}">
                <a16:creationId xmlns:a16="http://schemas.microsoft.com/office/drawing/2014/main" id="{E574FD7C-030A-3E0F-3FF6-D47655872AAC}"/>
              </a:ext>
            </a:extLst>
          </p:cNvPr>
          <p:cNvGraphicFramePr>
            <a:graphicFrameLocks noGrp="1"/>
          </p:cNvGraphicFramePr>
          <p:nvPr>
            <p:extLst>
              <p:ext uri="{D42A27DB-BD31-4B8C-83A1-F6EECF244321}">
                <p14:modId xmlns:p14="http://schemas.microsoft.com/office/powerpoint/2010/main" val="1340593794"/>
              </p:ext>
            </p:extLst>
          </p:nvPr>
        </p:nvGraphicFramePr>
        <p:xfrm>
          <a:off x="6022257" y="1564529"/>
          <a:ext cx="5712542" cy="4835072"/>
        </p:xfrm>
        <a:graphic>
          <a:graphicData uri="http://schemas.openxmlformats.org/drawingml/2006/table">
            <a:tbl>
              <a:tblPr/>
              <a:tblGrid>
                <a:gridCol w="1320216">
                  <a:extLst>
                    <a:ext uri="{9D8B030D-6E8A-4147-A177-3AD203B41FA5}">
                      <a16:colId xmlns:a16="http://schemas.microsoft.com/office/drawing/2014/main" val="1809358433"/>
                    </a:ext>
                  </a:extLst>
                </a:gridCol>
                <a:gridCol w="2192120">
                  <a:extLst>
                    <a:ext uri="{9D8B030D-6E8A-4147-A177-3AD203B41FA5}">
                      <a16:colId xmlns:a16="http://schemas.microsoft.com/office/drawing/2014/main" val="2784156030"/>
                    </a:ext>
                  </a:extLst>
                </a:gridCol>
                <a:gridCol w="2200206">
                  <a:extLst>
                    <a:ext uri="{9D8B030D-6E8A-4147-A177-3AD203B41FA5}">
                      <a16:colId xmlns:a16="http://schemas.microsoft.com/office/drawing/2014/main" val="4037116156"/>
                    </a:ext>
                  </a:extLst>
                </a:gridCol>
              </a:tblGrid>
              <a:tr h="215857">
                <a:tc>
                  <a:txBody>
                    <a:bodyPr/>
                    <a:lstStyle/>
                    <a:p>
                      <a:pPr algn="ctr">
                        <a:buNone/>
                      </a:pPr>
                      <a:r>
                        <a:rPr lang="en-IN" sz="1200" b="1" dirty="0">
                          <a:latin typeface="Times New Roman" panose="02020603050405020304" pitchFamily="18" charset="0"/>
                          <a:cs typeface="Times New Roman" panose="02020603050405020304" pitchFamily="18" charset="0"/>
                        </a:rPr>
                        <a:t>Category</a:t>
                      </a:r>
                      <a:endParaRPr lang="en-IN"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latin typeface="Times New Roman" panose="02020603050405020304" pitchFamily="18" charset="0"/>
                          <a:cs typeface="Times New Roman" panose="02020603050405020304" pitchFamily="18" charset="0"/>
                        </a:rPr>
                        <a:t>Component</a:t>
                      </a:r>
                      <a:endParaRPr lang="en-IN"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a:latin typeface="Times New Roman" panose="02020603050405020304" pitchFamily="18" charset="0"/>
                          <a:cs typeface="Times New Roman" panose="02020603050405020304" pitchFamily="18" charset="0"/>
                        </a:rPr>
                        <a:t>Specification / Description</a:t>
                      </a: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8711124"/>
                  </a:ext>
                </a:extLst>
              </a:tr>
              <a:tr h="376955">
                <a:tc>
                  <a:txBody>
                    <a:bodyPr/>
                    <a:lstStyle/>
                    <a:p>
                      <a:pPr algn="ctr">
                        <a:buNone/>
                      </a:pPr>
                      <a:r>
                        <a:rPr lang="en-IN" sz="1200">
                          <a:latin typeface="Times New Roman" panose="02020603050405020304" pitchFamily="18" charset="0"/>
                          <a:cs typeface="Times New Roman" panose="02020603050405020304" pitchFamily="18" charset="0"/>
                        </a:rPr>
                        <a:t>Electrical Components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Auxiliary System Type</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l-PL" sz="1200">
                          <a:latin typeface="Times New Roman" panose="02020603050405020304" pitchFamily="18" charset="0"/>
                          <a:cs typeface="Times New Roman" panose="02020603050405020304" pitchFamily="18" charset="0"/>
                        </a:rPr>
                        <a:t>12 V DC auxiliary system</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670899"/>
                  </a:ext>
                </a:extLst>
              </a:tr>
              <a:tr h="376955">
                <a:tc>
                  <a:txBody>
                    <a:bodyPr/>
                    <a:lstStyle/>
                    <a:p>
                      <a:pPr algn="ctr">
                        <a:buNone/>
                      </a:pPr>
                      <a:endParaRPr lang="en-IN"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Auxiliary Battery / Accumulator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12 V DC battery for controls &amp; lighting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620260"/>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DC–DC Converter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60 V–12 V DC, 15 A rated</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3118056"/>
                  </a:ext>
                </a:extLst>
              </a:tr>
              <a:tr h="215857">
                <a:tc>
                  <a:txBody>
                    <a:bodyPr/>
                    <a:lstStyle/>
                    <a:p>
                      <a:pPr algn="ctr">
                        <a:buNone/>
                      </a:pPr>
                      <a:r>
                        <a:rPr lang="en-IN" sz="1200">
                          <a:latin typeface="Times New Roman" panose="02020603050405020304" pitchFamily="18" charset="0"/>
                          <a:cs typeface="Times New Roman" panose="02020603050405020304" pitchFamily="18" charset="0"/>
                        </a:rPr>
                        <a:t>Safety Systems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Fuse Type &amp; Rating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Automotive blade fuse, 150 A</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069022"/>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MCB Type &amp; Rating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DC MCB, 150 A</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9873198"/>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Accumulator Isolation Relay (AIR)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High-voltage DC contactor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5518093"/>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Anderson Connector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Anderson SB series, 175 A</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9910562"/>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Ignition Switch</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Key type, dashboard mounted</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8067500"/>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Kill Switch</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Push/Pull type, rear accessible</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7228114"/>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Tractive System Disconnect (TSD)</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Manual service disconnect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7928243"/>
                  </a:ext>
                </a:extLst>
              </a:tr>
              <a:tr h="215857">
                <a:tc>
                  <a:txBody>
                    <a:bodyPr/>
                    <a:lstStyle/>
                    <a:p>
                      <a:pPr algn="ctr">
                        <a:buNone/>
                      </a:pPr>
                      <a:r>
                        <a:rPr lang="en-IN" sz="1200">
                          <a:latin typeface="Times New Roman" panose="02020603050405020304" pitchFamily="18" charset="0"/>
                          <a:cs typeface="Times New Roman" panose="02020603050405020304" pitchFamily="18" charset="0"/>
                        </a:rPr>
                        <a:t>Warning Systems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Electrical Innovation (if any)</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Smart monitoring using sensors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4017366"/>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Display</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Digital LCD, 12 V</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9536809"/>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TSAL</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latin typeface="Times New Roman" panose="02020603050405020304" pitchFamily="18" charset="0"/>
                          <a:cs typeface="Times New Roman" panose="02020603050405020304" pitchFamily="18" charset="0"/>
                        </a:rPr>
                        <a:t>Red LED indicator, HV active</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2559482"/>
                  </a:ext>
                </a:extLst>
              </a:tr>
              <a:tr h="215857">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RTDS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Buzzer-based audible alert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6025784"/>
                  </a:ext>
                </a:extLst>
              </a:tr>
              <a:tr h="376955">
                <a:tc>
                  <a:txBody>
                    <a:bodyPr/>
                    <a:lstStyle/>
                    <a:p>
                      <a:pPr algn="ctr">
                        <a:buNone/>
                      </a:pPr>
                      <a:endParaRPr lang="en-IN" sz="120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Battery Management System (BMS)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Cell monitoring &amp; protection system</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8440783"/>
                  </a:ext>
                </a:extLst>
              </a:tr>
            </a:tbl>
          </a:graphicData>
        </a:graphic>
      </p:graphicFrame>
      <p:pic>
        <p:nvPicPr>
          <p:cNvPr id="10" name="Picture 9">
            <a:extLst>
              <a:ext uri="{FF2B5EF4-FFF2-40B4-BE49-F238E27FC236}">
                <a16:creationId xmlns:a16="http://schemas.microsoft.com/office/drawing/2014/main" id="{37FAA4D1-837F-BE47-FF61-F76663466F7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2157364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F0E33-FD4B-B122-DDE2-FAB26763D7A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4F8A198-A31A-E5EC-17A9-5E8FECE7E8B2}"/>
              </a:ext>
            </a:extLst>
          </p:cNvPr>
          <p:cNvSpPr/>
          <p:nvPr/>
        </p:nvSpPr>
        <p:spPr>
          <a:xfrm>
            <a:off x="403121" y="1424146"/>
            <a:ext cx="11540941" cy="4916128"/>
          </a:xfrm>
          <a:prstGeom prst="roundRect">
            <a:avLst>
              <a:gd name="adj" fmla="val 16438"/>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5E67133-6CDA-7EA1-DEE3-A0D0BFA2FF53}"/>
              </a:ext>
            </a:extLst>
          </p:cNvPr>
          <p:cNvSpPr txBox="1"/>
          <p:nvPr/>
        </p:nvSpPr>
        <p:spPr>
          <a:xfrm>
            <a:off x="3104441" y="457200"/>
            <a:ext cx="5983115" cy="400110"/>
          </a:xfrm>
          <a:prstGeom prst="rect">
            <a:avLst/>
          </a:prstGeom>
          <a:noFill/>
        </p:spPr>
        <p:txBody>
          <a:bodyPr wrap="square" rtlCol="0">
            <a:spAutoFit/>
          </a:bodyPr>
          <a:lstStyle/>
          <a:p>
            <a:pPr algn="ctr"/>
            <a:r>
              <a:rPr lang="en-IN" sz="2000" dirty="0"/>
              <a:t>Circuit Diagram of HLVC &amp; GLVC System</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6EE3D6F-FC4B-E607-A3C5-8130C8F08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graphicFrame>
        <p:nvGraphicFramePr>
          <p:cNvPr id="5" name="Table 4">
            <a:extLst>
              <a:ext uri="{FF2B5EF4-FFF2-40B4-BE49-F238E27FC236}">
                <a16:creationId xmlns:a16="http://schemas.microsoft.com/office/drawing/2014/main" id="{82B9C503-3059-F993-0525-B83ABFABAA86}"/>
              </a:ext>
            </a:extLst>
          </p:cNvPr>
          <p:cNvGraphicFramePr>
            <a:graphicFrameLocks noGrp="1"/>
          </p:cNvGraphicFramePr>
          <p:nvPr>
            <p:extLst>
              <p:ext uri="{D42A27DB-BD31-4B8C-83A1-F6EECF244321}">
                <p14:modId xmlns:p14="http://schemas.microsoft.com/office/powerpoint/2010/main" val="250637502"/>
              </p:ext>
            </p:extLst>
          </p:nvPr>
        </p:nvGraphicFramePr>
        <p:xfrm>
          <a:off x="963561" y="2263934"/>
          <a:ext cx="10390239" cy="3169920"/>
        </p:xfrm>
        <a:graphic>
          <a:graphicData uri="http://schemas.openxmlformats.org/drawingml/2006/table">
            <a:tbl>
              <a:tblPr/>
              <a:tblGrid>
                <a:gridCol w="3379839">
                  <a:extLst>
                    <a:ext uri="{9D8B030D-6E8A-4147-A177-3AD203B41FA5}">
                      <a16:colId xmlns:a16="http://schemas.microsoft.com/office/drawing/2014/main" val="2428821944"/>
                    </a:ext>
                  </a:extLst>
                </a:gridCol>
                <a:gridCol w="3505200">
                  <a:extLst>
                    <a:ext uri="{9D8B030D-6E8A-4147-A177-3AD203B41FA5}">
                      <a16:colId xmlns:a16="http://schemas.microsoft.com/office/drawing/2014/main" val="4101442030"/>
                    </a:ext>
                  </a:extLst>
                </a:gridCol>
                <a:gridCol w="3505200">
                  <a:extLst>
                    <a:ext uri="{9D8B030D-6E8A-4147-A177-3AD203B41FA5}">
                      <a16:colId xmlns:a16="http://schemas.microsoft.com/office/drawing/2014/main" val="3551686003"/>
                    </a:ext>
                  </a:extLst>
                </a:gridCol>
              </a:tblGrid>
              <a:tr h="0">
                <a:tc>
                  <a:txBody>
                    <a:bodyPr/>
                    <a:lstStyle/>
                    <a:p>
                      <a:pPr>
                        <a:buNone/>
                      </a:pPr>
                      <a:r>
                        <a:rPr lang="en-IN" sz="1600" b="1" dirty="0">
                          <a:latin typeface="Times New Roman" panose="02020603050405020304" pitchFamily="18" charset="0"/>
                          <a:cs typeface="Times New Roman" panose="02020603050405020304" pitchFamily="18" charset="0"/>
                        </a:rPr>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HLV (High Line Voltage)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GLV (Ground Low Voltage)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3561000"/>
                  </a:ext>
                </a:extLst>
              </a:tr>
              <a:tr h="0">
                <a:tc>
                  <a:txBody>
                    <a:bodyPr/>
                    <a:lstStyle/>
                    <a:p>
                      <a:pPr>
                        <a:buNone/>
                      </a:pPr>
                      <a:r>
                        <a:rPr lang="en-IN" sz="1600" b="0" dirty="0">
                          <a:latin typeface="Times New Roman" panose="02020603050405020304" pitchFamily="18" charset="0"/>
                          <a:cs typeface="Times New Roman" panose="02020603050405020304" pitchFamily="18" charset="0"/>
                        </a:rPr>
                        <a:t>Voltage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latin typeface="Times New Roman" panose="02020603050405020304" pitchFamily="18" charset="0"/>
                          <a:cs typeface="Times New Roman" panose="02020603050405020304" pitchFamily="18" charset="0"/>
                        </a:rPr>
                        <a:t>High voltage used for propulsion and charging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latin typeface="Times New Roman" panose="02020603050405020304" pitchFamily="18" charset="0"/>
                          <a:cs typeface="Times New Roman" panose="02020603050405020304" pitchFamily="18" charset="0"/>
                        </a:rPr>
                        <a:t>Low voltage (12V / 5V) used for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6551462"/>
                  </a:ext>
                </a:extLst>
              </a:tr>
              <a:tr h="0">
                <a:tc>
                  <a:txBody>
                    <a:bodyPr/>
                    <a:lstStyle/>
                    <a:p>
                      <a:pPr>
                        <a:buNone/>
                      </a:pPr>
                      <a:r>
                        <a:rPr lang="en-IN" sz="1600" b="0">
                          <a:latin typeface="Times New Roman" panose="02020603050405020304" pitchFamily="18" charset="0"/>
                          <a:cs typeface="Times New Roman" panose="02020603050405020304" pitchFamily="18" charset="0"/>
                        </a:rPr>
                        <a:t>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Motor, inverter, high-power wiring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ECU, sensors, display, relays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1486215"/>
                  </a:ext>
                </a:extLst>
              </a:tr>
              <a:tr h="0">
                <a:tc>
                  <a:txBody>
                    <a:bodyPr/>
                    <a:lstStyle/>
                    <a:p>
                      <a:pPr>
                        <a:buNone/>
                      </a:pPr>
                      <a:r>
                        <a:rPr lang="en-IN" sz="1600" b="0">
                          <a:latin typeface="Times New Roman" panose="02020603050405020304" pitchFamily="18" charset="0"/>
                          <a:cs typeface="Times New Roman" panose="02020603050405020304" pitchFamily="18" charset="0"/>
                        </a:rPr>
                        <a:t>Current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High current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Low current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3567912"/>
                  </a:ext>
                </a:extLst>
              </a:tr>
              <a:tr h="0">
                <a:tc>
                  <a:txBody>
                    <a:bodyPr/>
                    <a:lstStyle/>
                    <a:p>
                      <a:pPr>
                        <a:buNone/>
                      </a:pPr>
                      <a:r>
                        <a:rPr lang="en-IN" sz="1600" b="0" dirty="0">
                          <a:latin typeface="Times New Roman" panose="02020603050405020304" pitchFamily="18" charset="0"/>
                          <a:cs typeface="Times New Roman" panose="02020603050405020304" pitchFamily="18" charset="0"/>
                        </a:rPr>
                        <a:t>Safety 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latin typeface="Times New Roman" panose="02020603050405020304" pitchFamily="18" charset="0"/>
                          <a:cs typeface="Times New Roman" panose="02020603050405020304" pitchFamily="18" charset="0"/>
                        </a:rPr>
                        <a:t>Requires insulation, shielding, and interlocks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Safe for handling and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3733868"/>
                  </a:ext>
                </a:extLst>
              </a:tr>
              <a:tr h="0">
                <a:tc>
                  <a:txBody>
                    <a:bodyPr/>
                    <a:lstStyle/>
                    <a:p>
                      <a:pPr>
                        <a:buNone/>
                      </a:pPr>
                      <a:r>
                        <a:rPr lang="en-IN" sz="1600" b="0">
                          <a:latin typeface="Times New Roman" panose="02020603050405020304" pitchFamily="18" charset="0"/>
                          <a:cs typeface="Times New Roman" panose="02020603050405020304" pitchFamily="18" charset="0"/>
                        </a:rPr>
                        <a:t>Electrical Isolation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Isolated from GLV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Common ground reference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3771184"/>
                  </a:ext>
                </a:extLst>
              </a:tr>
              <a:tr h="0">
                <a:tc>
                  <a:txBody>
                    <a:bodyPr/>
                    <a:lstStyle/>
                    <a:p>
                      <a:pPr>
                        <a:buNone/>
                      </a:pPr>
                      <a:r>
                        <a:rPr lang="en-IN" sz="1600" b="0">
                          <a:latin typeface="Times New Roman" panose="02020603050405020304" pitchFamily="18" charset="0"/>
                          <a:cs typeface="Times New Roman" panose="02020603050405020304" pitchFamily="18" charset="0"/>
                        </a:rPr>
                        <a:t>Cable Color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Orange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Red (Positive), Black (Ground)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7493068"/>
                  </a:ext>
                </a:extLst>
              </a:tr>
              <a:tr h="0">
                <a:tc>
                  <a:txBody>
                    <a:bodyPr/>
                    <a:lstStyle/>
                    <a:p>
                      <a:pPr>
                        <a:buNone/>
                      </a:pPr>
                      <a:r>
                        <a:rPr lang="en-IN" sz="1600" b="0">
                          <a:latin typeface="Times New Roman" panose="02020603050405020304" pitchFamily="18" charset="0"/>
                          <a:cs typeface="Times New Roman" panose="02020603050405020304" pitchFamily="18" charset="0"/>
                        </a:rPr>
                        <a:t>Signal / Control 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latin typeface="Times New Roman" panose="02020603050405020304" pitchFamily="18" charset="0"/>
                          <a:cs typeface="Times New Roman" panose="02020603050405020304" pitchFamily="18" charset="0"/>
                        </a:rPr>
                        <a:t>Not applicable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latin typeface="Times New Roman" panose="02020603050405020304" pitchFamily="18" charset="0"/>
                          <a:cs typeface="Times New Roman" panose="02020603050405020304" pitchFamily="18" charset="0"/>
                        </a:rPr>
                        <a:t>Yellow (signals), Blue (safety)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6829374"/>
                  </a:ext>
                </a:extLst>
              </a:tr>
            </a:tbl>
          </a:graphicData>
        </a:graphic>
      </p:graphicFrame>
      <p:pic>
        <p:nvPicPr>
          <p:cNvPr id="7" name="Picture 6">
            <a:extLst>
              <a:ext uri="{FF2B5EF4-FFF2-40B4-BE49-F238E27FC236}">
                <a16:creationId xmlns:a16="http://schemas.microsoft.com/office/drawing/2014/main" id="{059A0B37-2625-07DD-3F7D-D4155D15631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1334018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19566-6C08-FC2D-6FC3-9381589D1A80}"/>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3779DE4E-0BD5-AA3E-2910-7A3DA6D21272}"/>
              </a:ext>
            </a:extLst>
          </p:cNvPr>
          <p:cNvSpPr/>
          <p:nvPr/>
        </p:nvSpPr>
        <p:spPr>
          <a:xfrm>
            <a:off x="115622" y="3626138"/>
            <a:ext cx="11960756" cy="2632986"/>
          </a:xfrm>
          <a:prstGeom prst="roundRect">
            <a:avLst>
              <a:gd name="adj" fmla="val 16438"/>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53634A4-7472-9BBA-73B5-2D7107BACDE9}"/>
              </a:ext>
            </a:extLst>
          </p:cNvPr>
          <p:cNvSpPr txBox="1"/>
          <p:nvPr/>
        </p:nvSpPr>
        <p:spPr>
          <a:xfrm>
            <a:off x="3104442" y="362674"/>
            <a:ext cx="5983115" cy="400110"/>
          </a:xfrm>
          <a:prstGeom prst="rect">
            <a:avLst/>
          </a:prstGeom>
          <a:noFill/>
        </p:spPr>
        <p:txBody>
          <a:bodyPr wrap="square" rtlCol="0">
            <a:spAutoFit/>
          </a:bodyPr>
          <a:lstStyle/>
          <a:p>
            <a:pPr algn="ctr"/>
            <a:r>
              <a:rPr lang="en-IN" sz="2000" dirty="0"/>
              <a:t>DRIVER PERCY , SAFETY &amp; ERGONOMICS</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10F621E1-300C-9F64-77ED-9165752F4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5" name="object 3">
            <a:extLst>
              <a:ext uri="{FF2B5EF4-FFF2-40B4-BE49-F238E27FC236}">
                <a16:creationId xmlns:a16="http://schemas.microsoft.com/office/drawing/2014/main" id="{73769F19-B137-6D28-DBED-7489BC38F4DF}"/>
              </a:ext>
            </a:extLst>
          </p:cNvPr>
          <p:cNvPicPr/>
          <p:nvPr/>
        </p:nvPicPr>
        <p:blipFill>
          <a:blip r:embed="rId3" cstate="print"/>
          <a:stretch>
            <a:fillRect/>
          </a:stretch>
        </p:blipFill>
        <p:spPr>
          <a:xfrm>
            <a:off x="299884" y="1332949"/>
            <a:ext cx="3495368" cy="19510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7" name="Table 6">
            <a:extLst>
              <a:ext uri="{FF2B5EF4-FFF2-40B4-BE49-F238E27FC236}">
                <a16:creationId xmlns:a16="http://schemas.microsoft.com/office/drawing/2014/main" id="{898EF380-2FB1-EA7E-D96F-7C3F218BC437}"/>
              </a:ext>
            </a:extLst>
          </p:cNvPr>
          <p:cNvGraphicFramePr>
            <a:graphicFrameLocks noGrp="1"/>
          </p:cNvGraphicFramePr>
          <p:nvPr>
            <p:extLst>
              <p:ext uri="{D42A27DB-BD31-4B8C-83A1-F6EECF244321}">
                <p14:modId xmlns:p14="http://schemas.microsoft.com/office/powerpoint/2010/main" val="674133114"/>
              </p:ext>
            </p:extLst>
          </p:nvPr>
        </p:nvGraphicFramePr>
        <p:xfrm>
          <a:off x="457200" y="3868210"/>
          <a:ext cx="3141592" cy="2042160"/>
        </p:xfrm>
        <a:graphic>
          <a:graphicData uri="http://schemas.openxmlformats.org/drawingml/2006/table">
            <a:tbl>
              <a:tblPr/>
              <a:tblGrid>
                <a:gridCol w="1570796">
                  <a:extLst>
                    <a:ext uri="{9D8B030D-6E8A-4147-A177-3AD203B41FA5}">
                      <a16:colId xmlns:a16="http://schemas.microsoft.com/office/drawing/2014/main" val="4076577407"/>
                    </a:ext>
                  </a:extLst>
                </a:gridCol>
                <a:gridCol w="1570796">
                  <a:extLst>
                    <a:ext uri="{9D8B030D-6E8A-4147-A177-3AD203B41FA5}">
                      <a16:colId xmlns:a16="http://schemas.microsoft.com/office/drawing/2014/main" val="95962048"/>
                    </a:ext>
                  </a:extLst>
                </a:gridCol>
              </a:tblGrid>
              <a:tr h="0">
                <a:tc>
                  <a:txBody>
                    <a:bodyPr/>
                    <a:lstStyle/>
                    <a:p>
                      <a:pPr>
                        <a:buNone/>
                      </a:pPr>
                      <a:r>
                        <a:rPr lang="en-IN" sz="1400" b="1">
                          <a:latin typeface="Times New Roman" panose="02020603050405020304" pitchFamily="18" charset="0"/>
                          <a:cs typeface="Times New Roman" panose="02020603050405020304" pitchFamily="18" charset="0"/>
                        </a:rPr>
                        <a:t>Driver Body Part</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Angle (°)</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3590292"/>
                  </a:ext>
                </a:extLst>
              </a:tr>
              <a:tr h="0">
                <a:tc>
                  <a:txBody>
                    <a:bodyPr/>
                    <a:lstStyle/>
                    <a:p>
                      <a:pPr>
                        <a:buNone/>
                      </a:pPr>
                      <a:r>
                        <a:rPr lang="en-IN" sz="1400" dirty="0">
                          <a:latin typeface="Times New Roman" panose="02020603050405020304" pitchFamily="18" charset="0"/>
                          <a:cs typeface="Times New Roman" panose="02020603050405020304" pitchFamily="18" charset="0"/>
                        </a:rPr>
                        <a:t>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3765624"/>
                  </a:ext>
                </a:extLst>
              </a:tr>
              <a:tr h="0">
                <a:tc>
                  <a:txBody>
                    <a:bodyPr/>
                    <a:lstStyle/>
                    <a:p>
                      <a:pPr>
                        <a:buNone/>
                      </a:pPr>
                      <a:r>
                        <a:rPr lang="en-IN" sz="1400">
                          <a:latin typeface="Times New Roman" panose="02020603050405020304" pitchFamily="18" charset="0"/>
                          <a:cs typeface="Times New Roman" panose="02020603050405020304" pitchFamily="18" charset="0"/>
                        </a:rPr>
                        <a:t>Elbow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125°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1391067"/>
                  </a:ext>
                </a:extLst>
              </a:tr>
              <a:tr h="0">
                <a:tc>
                  <a:txBody>
                    <a:bodyPr/>
                    <a:lstStyle/>
                    <a:p>
                      <a:pPr>
                        <a:buNone/>
                      </a:pPr>
                      <a:r>
                        <a:rPr lang="en-IN" sz="1400">
                          <a:latin typeface="Times New Roman" panose="02020603050405020304" pitchFamily="18" charset="0"/>
                          <a:cs typeface="Times New Roman" panose="02020603050405020304" pitchFamily="18" charset="0"/>
                        </a:rPr>
                        <a:t>Knee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5969919"/>
                  </a:ext>
                </a:extLst>
              </a:tr>
              <a:tr h="0">
                <a:tc>
                  <a:txBody>
                    <a:bodyPr/>
                    <a:lstStyle/>
                    <a:p>
                      <a:pPr>
                        <a:buNone/>
                      </a:pPr>
                      <a:r>
                        <a:rPr lang="en-IN" sz="1400">
                          <a:latin typeface="Times New Roman" panose="02020603050405020304" pitchFamily="18" charset="0"/>
                          <a:cs typeface="Times New Roman" panose="02020603050405020304" pitchFamily="18" charset="0"/>
                        </a:rPr>
                        <a:t>Ankle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044598"/>
                  </a:ext>
                </a:extLst>
              </a:tr>
              <a:tr h="0">
                <a:tc>
                  <a:txBody>
                    <a:bodyPr/>
                    <a:lstStyle/>
                    <a:p>
                      <a:pPr>
                        <a:buNone/>
                      </a:pPr>
                      <a:r>
                        <a:rPr lang="en-IN" sz="1400">
                          <a:latin typeface="Times New Roman" panose="02020603050405020304" pitchFamily="18" charset="0"/>
                          <a:cs typeface="Times New Roman" panose="02020603050405020304" pitchFamily="18" charset="0"/>
                        </a:rPr>
                        <a:t>Thigh-to-horizontal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3283204"/>
                  </a:ext>
                </a:extLst>
              </a:tr>
            </a:tbl>
          </a:graphicData>
        </a:graphic>
      </p:graphicFrame>
      <p:grpSp>
        <p:nvGrpSpPr>
          <p:cNvPr id="8" name="Google Shape;1317;p39">
            <a:extLst>
              <a:ext uri="{FF2B5EF4-FFF2-40B4-BE49-F238E27FC236}">
                <a16:creationId xmlns:a16="http://schemas.microsoft.com/office/drawing/2014/main" id="{FED92F10-9B81-06D5-F134-F5897F6DD148}"/>
              </a:ext>
            </a:extLst>
          </p:cNvPr>
          <p:cNvGrpSpPr/>
          <p:nvPr/>
        </p:nvGrpSpPr>
        <p:grpSpPr>
          <a:xfrm>
            <a:off x="5706667" y="3737933"/>
            <a:ext cx="6573368" cy="2916558"/>
            <a:chOff x="457188" y="629047"/>
            <a:chExt cx="4283993" cy="3407962"/>
          </a:xfrm>
        </p:grpSpPr>
        <p:sp>
          <p:nvSpPr>
            <p:cNvPr id="9" name="Google Shape;1318;p39">
              <a:extLst>
                <a:ext uri="{FF2B5EF4-FFF2-40B4-BE49-F238E27FC236}">
                  <a16:creationId xmlns:a16="http://schemas.microsoft.com/office/drawing/2014/main" id="{C40F3BB9-A77B-8707-07AA-FFF90CF1D553}"/>
                </a:ext>
              </a:extLst>
            </p:cNvPr>
            <p:cNvSpPr txBox="1"/>
            <p:nvPr/>
          </p:nvSpPr>
          <p:spPr>
            <a:xfrm>
              <a:off x="2476181" y="629047"/>
              <a:ext cx="2265000" cy="3407962"/>
            </a:xfrm>
            <a:prstGeom prst="rect">
              <a:avLst/>
            </a:prstGeom>
            <a:noFill/>
            <a:ln>
              <a:noFill/>
            </a:ln>
          </p:spPr>
          <p:txBody>
            <a:bodyPr spcFirstLastPara="1" wrap="square" lIns="121900" tIns="121900" rIns="121900" bIns="121900" anchor="ctr" anchorCtr="0">
              <a:noAutofit/>
            </a:bodyPr>
            <a:lstStyle/>
            <a:p>
              <a:r>
                <a:rPr lang="en-IN" sz="2133" dirty="0">
                  <a:latin typeface="Times New Roman" panose="02020603050405020304" pitchFamily="18" charset="0"/>
                  <a:cs typeface="Times New Roman" panose="02020603050405020304" pitchFamily="18" charset="0"/>
                </a:rPr>
                <a:t>List of necessary equipment</a:t>
              </a:r>
              <a:endParaRPr lang="en-US" altLang="en-US" sz="2133" dirty="0">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altLang="en-US" sz="1400" dirty="0">
                  <a:latin typeface="Times New Roman" panose="02020603050405020304" pitchFamily="18" charset="0"/>
                  <a:cs typeface="Times New Roman" panose="02020603050405020304" pitchFamily="18" charset="0"/>
                </a:rPr>
                <a:t>Helmets                                                                        </a:t>
              </a:r>
            </a:p>
            <a:p>
              <a:pPr>
                <a:buFont typeface="Wingdings" panose="05000000000000000000" charset="0"/>
                <a:buChar char="ü"/>
              </a:pPr>
              <a:r>
                <a:rPr lang="en-US" altLang="en-US" sz="1400" dirty="0">
                  <a:latin typeface="Times New Roman"/>
                  <a:cs typeface="Times New Roman"/>
                </a:rPr>
                <a:t>Seatbelts</a:t>
              </a:r>
            </a:p>
            <a:p>
              <a:pPr>
                <a:buFont typeface="Wingdings" panose="05000000000000000000" charset="0"/>
                <a:buChar char="ü"/>
              </a:pPr>
              <a:r>
                <a:rPr lang="en-US" altLang="en-US" sz="1400" dirty="0">
                  <a:latin typeface="Times New Roman"/>
                  <a:cs typeface="Times New Roman"/>
                </a:rPr>
                <a:t>Protective barriers</a:t>
              </a:r>
            </a:p>
            <a:p>
              <a:pPr>
                <a:lnSpc>
                  <a:spcPct val="90000"/>
                </a:lnSpc>
                <a:buFont typeface="Wingdings" panose="05000000000000000000" charset="0"/>
                <a:buChar char="ü"/>
              </a:pPr>
              <a:r>
                <a:rPr lang="en-US" altLang="en-US" sz="1400" dirty="0">
                  <a:latin typeface="Times New Roman"/>
                  <a:cs typeface="Times New Roman"/>
                </a:rPr>
                <a:t>Track lighting</a:t>
              </a:r>
            </a:p>
            <a:p>
              <a:pPr>
                <a:buFont typeface="Wingdings" panose="05000000000000000000" charset="0"/>
                <a:buChar char="ü"/>
              </a:pPr>
              <a:r>
                <a:rPr lang="en-US" altLang="en-US" sz="1400" dirty="0">
                  <a:latin typeface="Times New Roman"/>
                  <a:cs typeface="Times New Roman"/>
                </a:rPr>
                <a:t>Timing system</a:t>
              </a:r>
            </a:p>
            <a:p>
              <a:pPr>
                <a:buFont typeface="Wingdings" panose="05000000000000000000" charset="0"/>
                <a:buChar char="ü"/>
              </a:pPr>
              <a:r>
                <a:rPr lang="en-US" altLang="en-US" sz="1400" dirty="0">
                  <a:latin typeface="Times New Roman"/>
                  <a:cs typeface="Times New Roman"/>
                </a:rPr>
                <a:t>Track cleaning equipment</a:t>
              </a:r>
            </a:p>
            <a:p>
              <a:pPr>
                <a:buFont typeface="Wingdings" panose="05000000000000000000" charset="0"/>
                <a:buChar char="ü"/>
              </a:pPr>
              <a:r>
                <a:rPr lang="en-US" altLang="en-US" sz="1400" dirty="0">
                  <a:latin typeface="Times New Roman"/>
                  <a:cs typeface="Times New Roman"/>
                </a:rPr>
                <a:t>Kart maintenance tools</a:t>
              </a:r>
            </a:p>
            <a:p>
              <a:pPr>
                <a:buFont typeface="Wingdings" panose="05000000000000000000" charset="0"/>
                <a:buChar char="ü"/>
              </a:pPr>
              <a:r>
                <a:rPr lang="en-US" altLang="en-US" sz="1400" dirty="0">
                  <a:latin typeface="Times New Roman"/>
                  <a:cs typeface="Times New Roman"/>
                </a:rPr>
                <a:t>Safety nets</a:t>
              </a:r>
            </a:p>
            <a:p>
              <a:pPr>
                <a:buFont typeface="Wingdings" panose="05000000000000000000" charset="0"/>
                <a:buChar char="ü"/>
              </a:pPr>
              <a:r>
                <a:rPr lang="en-US" altLang="en-US" sz="1400" dirty="0">
                  <a:latin typeface="Times New Roman"/>
                  <a:cs typeface="Times New Roman"/>
                </a:rPr>
                <a:t>Fire extinguishers</a:t>
              </a:r>
            </a:p>
            <a:p>
              <a:pPr>
                <a:buFont typeface="Wingdings" panose="05000000000000000000" charset="0"/>
                <a:buChar char="ü"/>
              </a:pPr>
              <a:r>
                <a:rPr lang="en-US" altLang="en-US" sz="1400" dirty="0">
                  <a:latin typeface="Times New Roman"/>
                  <a:cs typeface="Times New Roman"/>
                </a:rPr>
                <a:t>First aid kits</a:t>
              </a:r>
            </a:p>
            <a:p>
              <a:endParaRPr sz="2267"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10" name="Google Shape;1319;p39">
              <a:extLst>
                <a:ext uri="{FF2B5EF4-FFF2-40B4-BE49-F238E27FC236}">
                  <a16:creationId xmlns:a16="http://schemas.microsoft.com/office/drawing/2014/main" id="{87A2F703-192E-179E-B7F8-88A6A1DE071E}"/>
                </a:ext>
              </a:extLst>
            </p:cNvPr>
            <p:cNvSpPr txBox="1"/>
            <p:nvPr/>
          </p:nvSpPr>
          <p:spPr>
            <a:xfrm>
              <a:off x="457188" y="3290276"/>
              <a:ext cx="2265000" cy="534900"/>
            </a:xfrm>
            <a:prstGeom prst="rect">
              <a:avLst/>
            </a:prstGeom>
            <a:noFill/>
            <a:ln>
              <a:noFill/>
            </a:ln>
          </p:spPr>
          <p:txBody>
            <a:bodyPr spcFirstLastPara="1" wrap="square" lIns="121900" tIns="121900" rIns="121900" bIns="121900" anchor="ctr" anchorCtr="0">
              <a:noAutofit/>
            </a:bodyPr>
            <a:lstStyle/>
            <a:p>
              <a:endParaRPr sz="1600" dirty="0">
                <a:latin typeface="Roboto"/>
                <a:ea typeface="Roboto"/>
                <a:cs typeface="Roboto"/>
                <a:sym typeface="Roboto"/>
              </a:endParaRPr>
            </a:p>
          </p:txBody>
        </p:sp>
      </p:grpSp>
      <p:pic>
        <p:nvPicPr>
          <p:cNvPr id="11" name="object 4">
            <a:extLst>
              <a:ext uri="{FF2B5EF4-FFF2-40B4-BE49-F238E27FC236}">
                <a16:creationId xmlns:a16="http://schemas.microsoft.com/office/drawing/2014/main" id="{07213D4F-84C9-88C0-6EFE-B1BBE6B0DBDA}"/>
              </a:ext>
            </a:extLst>
          </p:cNvPr>
          <p:cNvPicPr/>
          <p:nvPr/>
        </p:nvPicPr>
        <p:blipFill>
          <a:blip r:embed="rId4" cstate="print"/>
          <a:stretch>
            <a:fillRect/>
          </a:stretch>
        </p:blipFill>
        <p:spPr>
          <a:xfrm>
            <a:off x="9273964" y="1107196"/>
            <a:ext cx="2104103" cy="23218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object 4">
            <a:extLst>
              <a:ext uri="{FF2B5EF4-FFF2-40B4-BE49-F238E27FC236}">
                <a16:creationId xmlns:a16="http://schemas.microsoft.com/office/drawing/2014/main" id="{34559DED-0FD8-D24F-A4FC-80F6137DA16D}"/>
              </a:ext>
            </a:extLst>
          </p:cNvPr>
          <p:cNvPicPr/>
          <p:nvPr/>
        </p:nvPicPr>
        <p:blipFill>
          <a:blip r:embed="rId5" cstate="print"/>
          <a:stretch>
            <a:fillRect/>
          </a:stretch>
        </p:blipFill>
        <p:spPr>
          <a:xfrm>
            <a:off x="4439265" y="1323229"/>
            <a:ext cx="3618271" cy="21057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13" name="object 8">
            <a:extLst>
              <a:ext uri="{FF2B5EF4-FFF2-40B4-BE49-F238E27FC236}">
                <a16:creationId xmlns:a16="http://schemas.microsoft.com/office/drawing/2014/main" id="{E59DAF46-B7B1-A493-661A-0F34E4CF1A7B}"/>
              </a:ext>
            </a:extLst>
          </p:cNvPr>
          <p:cNvGraphicFramePr>
            <a:graphicFrameLocks noGrp="1"/>
          </p:cNvGraphicFramePr>
          <p:nvPr>
            <p:extLst>
              <p:ext uri="{D42A27DB-BD31-4B8C-83A1-F6EECF244321}">
                <p14:modId xmlns:p14="http://schemas.microsoft.com/office/powerpoint/2010/main" val="1546096680"/>
              </p:ext>
            </p:extLst>
          </p:nvPr>
        </p:nvGraphicFramePr>
        <p:xfrm>
          <a:off x="3982251" y="3830556"/>
          <a:ext cx="4404851" cy="2079814"/>
        </p:xfrm>
        <a:graphic>
          <a:graphicData uri="http://schemas.openxmlformats.org/drawingml/2006/table">
            <a:tbl>
              <a:tblPr firstRow="1" bandRow="1">
                <a:tableStyleId>{7E9639D4-E3E2-4D34-9284-5A2195B3D0D7}</a:tableStyleId>
              </a:tblPr>
              <a:tblGrid>
                <a:gridCol w="4404851">
                  <a:extLst>
                    <a:ext uri="{9D8B030D-6E8A-4147-A177-3AD203B41FA5}">
                      <a16:colId xmlns:a16="http://schemas.microsoft.com/office/drawing/2014/main" val="20000"/>
                    </a:ext>
                  </a:extLst>
                </a:gridCol>
              </a:tblGrid>
              <a:tr h="301232">
                <a:tc>
                  <a:txBody>
                    <a:bodyPr/>
                    <a:lstStyle/>
                    <a:p>
                      <a:pPr algn="ctr">
                        <a:lnSpc>
                          <a:spcPct val="100000"/>
                        </a:lnSpc>
                        <a:spcBef>
                          <a:spcPts val="245"/>
                        </a:spcBef>
                      </a:pPr>
                      <a:r>
                        <a:rPr sz="1400" b="1" dirty="0">
                          <a:latin typeface="Times New Roman" panose="02020603050405020304" pitchFamily="18" charset="0"/>
                          <a:cs typeface="Times New Roman" panose="02020603050405020304" pitchFamily="18" charset="0"/>
                        </a:rPr>
                        <a:t>Safety</a:t>
                      </a:r>
                      <a:r>
                        <a:rPr sz="1400" b="1" spc="-70" dirty="0">
                          <a:latin typeface="Times New Roman" panose="02020603050405020304" pitchFamily="18" charset="0"/>
                          <a:cs typeface="Times New Roman" panose="02020603050405020304" pitchFamily="18" charset="0"/>
                        </a:rPr>
                        <a:t> </a:t>
                      </a:r>
                      <a:r>
                        <a:rPr sz="1400" b="1" spc="-10" dirty="0">
                          <a:latin typeface="Times New Roman" panose="02020603050405020304" pitchFamily="18" charset="0"/>
                          <a:cs typeface="Times New Roman" panose="02020603050405020304" pitchFamily="18" charset="0"/>
                        </a:rPr>
                        <a:t>considerations</a:t>
                      </a:r>
                      <a:endParaRPr sz="14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0000"/>
                  </a:ext>
                </a:extLst>
              </a:tr>
              <a:tr h="571776">
                <a:tc>
                  <a:txBody>
                    <a:bodyPr/>
                    <a:lstStyle/>
                    <a:p>
                      <a:pPr marL="2266315" marR="92075" indent="-2167890">
                        <a:lnSpc>
                          <a:spcPct val="100000"/>
                        </a:lnSpc>
                        <a:spcBef>
                          <a:spcPts val="245"/>
                        </a:spcBef>
                      </a:pPr>
                      <a:r>
                        <a:rPr sz="1400" dirty="0">
                          <a:latin typeface="Times New Roman" panose="02020603050405020304" pitchFamily="18" charset="0"/>
                          <a:cs typeface="Times New Roman" panose="02020603050405020304" pitchFamily="18" charset="0"/>
                        </a:rPr>
                        <a:t>Kill</a:t>
                      </a:r>
                      <a:r>
                        <a:rPr sz="1400" spc="-40"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switches(</a:t>
                      </a:r>
                      <a:r>
                        <a:rPr sz="1400" spc="-4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brake</a:t>
                      </a:r>
                      <a:r>
                        <a:rPr sz="1400" spc="-3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over</a:t>
                      </a:r>
                      <a:r>
                        <a:rPr sz="1400" spc="-50"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travel,</a:t>
                      </a:r>
                      <a:r>
                        <a:rPr sz="1400" spc="-6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external</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access,</a:t>
                      </a:r>
                      <a:r>
                        <a:rPr sz="1400" spc="-50"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drivers cockpit)</a:t>
                      </a:r>
                      <a:endParaRPr sz="14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0001"/>
                  </a:ext>
                </a:extLst>
              </a:tr>
              <a:tr h="301232">
                <a:tc>
                  <a:txBody>
                    <a:bodyPr/>
                    <a:lstStyle/>
                    <a:p>
                      <a:pPr marL="1905" algn="ctr">
                        <a:lnSpc>
                          <a:spcPct val="100000"/>
                        </a:lnSpc>
                        <a:spcBef>
                          <a:spcPts val="245"/>
                        </a:spcBef>
                      </a:pPr>
                      <a:r>
                        <a:rPr sz="1400" dirty="0">
                          <a:latin typeface="Times New Roman" panose="02020603050405020304" pitchFamily="18" charset="0"/>
                          <a:cs typeface="Times New Roman" panose="02020603050405020304" pitchFamily="18" charset="0"/>
                        </a:rPr>
                        <a:t>Fire</a:t>
                      </a:r>
                      <a:r>
                        <a:rPr sz="1400" spc="-30"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extinguisher</a:t>
                      </a:r>
                      <a:endParaRPr sz="14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0002"/>
                  </a:ext>
                </a:extLst>
              </a:tr>
              <a:tr h="301858">
                <a:tc>
                  <a:txBody>
                    <a:bodyPr/>
                    <a:lstStyle/>
                    <a:p>
                      <a:pPr marL="635" algn="ctr">
                        <a:lnSpc>
                          <a:spcPct val="100000"/>
                        </a:lnSpc>
                        <a:spcBef>
                          <a:spcPts val="250"/>
                        </a:spcBef>
                      </a:pPr>
                      <a:r>
                        <a:rPr sz="1400" dirty="0">
                          <a:latin typeface="Times New Roman" panose="02020603050405020304" pitchFamily="18" charset="0"/>
                          <a:cs typeface="Times New Roman" panose="02020603050405020304" pitchFamily="18" charset="0"/>
                        </a:rPr>
                        <a:t>Dot</a:t>
                      </a:r>
                      <a:r>
                        <a:rPr sz="1400" spc="-7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rated</a:t>
                      </a:r>
                      <a:r>
                        <a:rPr sz="1400" spc="-55"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helmet</a:t>
                      </a:r>
                      <a:endParaRPr sz="140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10003"/>
                  </a:ext>
                </a:extLst>
              </a:tr>
              <a:tr h="301858">
                <a:tc>
                  <a:txBody>
                    <a:bodyPr/>
                    <a:lstStyle/>
                    <a:p>
                      <a:pPr algn="ctr">
                        <a:lnSpc>
                          <a:spcPct val="100000"/>
                        </a:lnSpc>
                        <a:spcBef>
                          <a:spcPts val="250"/>
                        </a:spcBef>
                      </a:pPr>
                      <a:r>
                        <a:rPr sz="1400" dirty="0">
                          <a:latin typeface="Times New Roman" panose="02020603050405020304" pitchFamily="18" charset="0"/>
                          <a:cs typeface="Times New Roman" panose="02020603050405020304" pitchFamily="18" charset="0"/>
                        </a:rPr>
                        <a:t>SFI</a:t>
                      </a:r>
                      <a:r>
                        <a:rPr sz="1400" spc="-8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rated</a:t>
                      </a:r>
                      <a:r>
                        <a:rPr sz="1400" spc="-6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driver’s</a:t>
                      </a:r>
                      <a:r>
                        <a:rPr sz="1400" spc="-75" dirty="0">
                          <a:latin typeface="Times New Roman" panose="02020603050405020304" pitchFamily="18" charset="0"/>
                          <a:cs typeface="Times New Roman" panose="02020603050405020304" pitchFamily="18" charset="0"/>
                        </a:rPr>
                        <a:t> </a:t>
                      </a:r>
                      <a:r>
                        <a:rPr sz="1400" spc="-20" dirty="0">
                          <a:latin typeface="Times New Roman" panose="02020603050405020304" pitchFamily="18" charset="0"/>
                          <a:cs typeface="Times New Roman" panose="02020603050405020304" pitchFamily="18" charset="0"/>
                        </a:rPr>
                        <a:t>suit</a:t>
                      </a:r>
                      <a:endParaRPr sz="140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10004"/>
                  </a:ext>
                </a:extLst>
              </a:tr>
              <a:tr h="301858">
                <a:tc>
                  <a:txBody>
                    <a:bodyPr/>
                    <a:lstStyle/>
                    <a:p>
                      <a:pPr algn="ctr">
                        <a:lnSpc>
                          <a:spcPct val="100000"/>
                        </a:lnSpc>
                        <a:spcBef>
                          <a:spcPts val="250"/>
                        </a:spcBef>
                      </a:pPr>
                      <a:r>
                        <a:rPr sz="1400" dirty="0">
                          <a:latin typeface="Times New Roman" panose="02020603050405020304" pitchFamily="18" charset="0"/>
                          <a:cs typeface="Times New Roman" panose="02020603050405020304" pitchFamily="18" charset="0"/>
                        </a:rPr>
                        <a:t>Gloves,</a:t>
                      </a:r>
                      <a:r>
                        <a:rPr sz="1400" spc="-5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shoes,</a:t>
                      </a:r>
                      <a:r>
                        <a:rPr sz="1400" spc="-5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neck</a:t>
                      </a:r>
                      <a:r>
                        <a:rPr sz="1400" spc="-40" dirty="0">
                          <a:latin typeface="Times New Roman" panose="02020603050405020304" pitchFamily="18" charset="0"/>
                          <a:cs typeface="Times New Roman" panose="02020603050405020304" pitchFamily="18" charset="0"/>
                        </a:rPr>
                        <a:t> </a:t>
                      </a:r>
                      <a:r>
                        <a:rPr sz="1400" spc="-10" dirty="0">
                          <a:latin typeface="Times New Roman" panose="02020603050405020304" pitchFamily="18" charset="0"/>
                          <a:cs typeface="Times New Roman" panose="02020603050405020304" pitchFamily="18" charset="0"/>
                        </a:rPr>
                        <a:t>support</a:t>
                      </a:r>
                      <a:endParaRPr sz="1400" dirty="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10005"/>
                  </a:ext>
                </a:extLst>
              </a:tr>
            </a:tbl>
          </a:graphicData>
        </a:graphic>
      </p:graphicFrame>
      <p:pic>
        <p:nvPicPr>
          <p:cNvPr id="15" name="Picture 14">
            <a:extLst>
              <a:ext uri="{FF2B5EF4-FFF2-40B4-BE49-F238E27FC236}">
                <a16:creationId xmlns:a16="http://schemas.microsoft.com/office/drawing/2014/main" id="{EC608BA8-9002-9232-E76F-A7A42FD978AF}"/>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Tree>
    <p:extLst>
      <p:ext uri="{BB962C8B-B14F-4D97-AF65-F5344CB8AC3E}">
        <p14:creationId xmlns:p14="http://schemas.microsoft.com/office/powerpoint/2010/main" val="2247116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0B6775A-0B22-45B7-6CB3-0024E91CE340}"/>
              </a:ext>
            </a:extLst>
          </p:cNvPr>
          <p:cNvSpPr/>
          <p:nvPr/>
        </p:nvSpPr>
        <p:spPr>
          <a:xfrm>
            <a:off x="35969" y="818881"/>
            <a:ext cx="12120061" cy="5847390"/>
          </a:xfrm>
          <a:prstGeom prst="roundRect">
            <a:avLst>
              <a:gd name="adj" fmla="val 9208"/>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DDF6947-196A-3B1A-E5DE-F71855973BB9}"/>
              </a:ext>
            </a:extLst>
          </p:cNvPr>
          <p:cNvSpPr txBox="1"/>
          <p:nvPr/>
        </p:nvSpPr>
        <p:spPr>
          <a:xfrm>
            <a:off x="4562168" y="346275"/>
            <a:ext cx="2143432" cy="369332"/>
          </a:xfrm>
          <a:prstGeom prst="rect">
            <a:avLst/>
          </a:prstGeom>
          <a:noFill/>
        </p:spPr>
        <p:txBody>
          <a:bodyPr wrap="square">
            <a:spAutoFit/>
          </a:bodyPr>
          <a:lstStyle/>
          <a:p>
            <a:r>
              <a:rPr lang="en-IN" b="1">
                <a:latin typeface="Times New Roman" panose="02020603050405020304" pitchFamily="18" charset="0"/>
                <a:cs typeface="Times New Roman" panose="02020603050405020304" pitchFamily="18" charset="0"/>
              </a:rPr>
              <a:t>GANTT CHART</a:t>
            </a:r>
            <a:endParaRPr lang="en-IN"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7B91EDA-0464-019F-C01C-52CF6242A975}"/>
              </a:ext>
            </a:extLst>
          </p:cNvPr>
          <p:cNvGraphicFramePr>
            <a:graphicFrameLocks noGrp="1"/>
          </p:cNvGraphicFramePr>
          <p:nvPr>
            <p:extLst>
              <p:ext uri="{D42A27DB-BD31-4B8C-83A1-F6EECF244321}">
                <p14:modId xmlns:p14="http://schemas.microsoft.com/office/powerpoint/2010/main" val="3964035258"/>
              </p:ext>
            </p:extLst>
          </p:nvPr>
        </p:nvGraphicFramePr>
        <p:xfrm>
          <a:off x="492103" y="1122991"/>
          <a:ext cx="5364480" cy="5335495"/>
        </p:xfrm>
        <a:graphic>
          <a:graphicData uri="http://schemas.openxmlformats.org/drawingml/2006/table">
            <a:tbl>
              <a:tblPr/>
              <a:tblGrid>
                <a:gridCol w="866428">
                  <a:extLst>
                    <a:ext uri="{9D8B030D-6E8A-4147-A177-3AD203B41FA5}">
                      <a16:colId xmlns:a16="http://schemas.microsoft.com/office/drawing/2014/main" val="1342338032"/>
                    </a:ext>
                  </a:extLst>
                </a:gridCol>
                <a:gridCol w="1279364">
                  <a:extLst>
                    <a:ext uri="{9D8B030D-6E8A-4147-A177-3AD203B41FA5}">
                      <a16:colId xmlns:a16="http://schemas.microsoft.com/office/drawing/2014/main" val="1971308495"/>
                    </a:ext>
                  </a:extLst>
                </a:gridCol>
                <a:gridCol w="1072896">
                  <a:extLst>
                    <a:ext uri="{9D8B030D-6E8A-4147-A177-3AD203B41FA5}">
                      <a16:colId xmlns:a16="http://schemas.microsoft.com/office/drawing/2014/main" val="746572542"/>
                    </a:ext>
                  </a:extLst>
                </a:gridCol>
                <a:gridCol w="1072896">
                  <a:extLst>
                    <a:ext uri="{9D8B030D-6E8A-4147-A177-3AD203B41FA5}">
                      <a16:colId xmlns:a16="http://schemas.microsoft.com/office/drawing/2014/main" val="4248161728"/>
                    </a:ext>
                  </a:extLst>
                </a:gridCol>
                <a:gridCol w="1072896">
                  <a:extLst>
                    <a:ext uri="{9D8B030D-6E8A-4147-A177-3AD203B41FA5}">
                      <a16:colId xmlns:a16="http://schemas.microsoft.com/office/drawing/2014/main" val="2005510850"/>
                    </a:ext>
                  </a:extLst>
                </a:gridCol>
              </a:tblGrid>
              <a:tr h="417441">
                <a:tc>
                  <a:txBody>
                    <a:bodyPr/>
                    <a:lstStyle/>
                    <a:p>
                      <a:pPr algn="ctr">
                        <a:buNone/>
                      </a:pPr>
                      <a:r>
                        <a:rPr lang="en-IN" sz="1200">
                          <a:latin typeface="Times New Roman" panose="02020603050405020304" pitchFamily="18" charset="0"/>
                          <a:cs typeface="Times New Roman" panose="02020603050405020304" pitchFamily="18" charset="0"/>
                        </a:rPr>
                        <a:t>Task No</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Task Description</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Start Date</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End Date</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Duration (Weeks)</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8773058"/>
                  </a:ext>
                </a:extLst>
              </a:tr>
              <a:tr h="608906">
                <a:tc>
                  <a:txBody>
                    <a:bodyPr/>
                    <a:lstStyle/>
                    <a:p>
                      <a:pPr algn="ctr">
                        <a:buNone/>
                      </a:pPr>
                      <a:r>
                        <a:rPr lang="en-IN" sz="1200">
                          <a:latin typeface="Times New Roman" panose="02020603050405020304" pitchFamily="18" charset="0"/>
                          <a:cs typeface="Times New Roman" panose="02020603050405020304" pitchFamily="18" charset="0"/>
                        </a:rPr>
                        <a:t>1</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Concept &amp; Objective Definition</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1</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5996425"/>
                  </a:ext>
                </a:extLst>
              </a:tr>
              <a:tr h="471233">
                <a:tc>
                  <a:txBody>
                    <a:bodyPr/>
                    <a:lstStyle/>
                    <a:p>
                      <a:pPr algn="ctr">
                        <a:buNone/>
                      </a:pPr>
                      <a:r>
                        <a:rPr lang="en-IN" sz="120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Literature Review / Research</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3</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1429163"/>
                  </a:ext>
                </a:extLst>
              </a:tr>
              <a:tr h="915758">
                <a:tc>
                  <a:txBody>
                    <a:bodyPr/>
                    <a:lstStyle/>
                    <a:p>
                      <a:pPr algn="ctr">
                        <a:buNone/>
                      </a:pPr>
                      <a:r>
                        <a:rPr lang="en-IN" sz="1200">
                          <a:latin typeface="Times New Roman" panose="02020603050405020304" pitchFamily="18" charset="0"/>
                          <a:cs typeface="Times New Roman" panose="02020603050405020304" pitchFamily="18" charset="0"/>
                        </a:rPr>
                        <a:t>3</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Benchmarking / Comparing Existing Electric Kart Models</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3</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2350163"/>
                  </a:ext>
                </a:extLst>
              </a:tr>
              <a:tr h="767583">
                <a:tc>
                  <a:txBody>
                    <a:bodyPr/>
                    <a:lstStyle/>
                    <a:p>
                      <a:pPr algn="ctr">
                        <a:buNone/>
                      </a:pPr>
                      <a:r>
                        <a:rPr lang="en-IN" sz="1200">
                          <a:latin typeface="Times New Roman" panose="02020603050405020304" pitchFamily="18" charset="0"/>
                          <a:cs typeface="Times New Roman" panose="02020603050405020304" pitchFamily="18" charset="0"/>
                        </a:rPr>
                        <a:t>4</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CAD Modeling (Chassis, Frame &amp; Components)</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3</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5</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3</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5418864"/>
                  </a:ext>
                </a:extLst>
              </a:tr>
              <a:tr h="619408">
                <a:tc>
                  <a:txBody>
                    <a:bodyPr/>
                    <a:lstStyle/>
                    <a:p>
                      <a:pPr algn="ctr">
                        <a:buNone/>
                      </a:pPr>
                      <a:r>
                        <a:rPr lang="en-IN" sz="1200">
                          <a:latin typeface="Times New Roman" panose="02020603050405020304" pitchFamily="18" charset="0"/>
                          <a:cs typeface="Times New Roman" panose="02020603050405020304" pitchFamily="18" charset="0"/>
                        </a:rPr>
                        <a:t>5</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Bill of Materials (BOM) Preparation</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4</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5</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4148912"/>
                  </a:ext>
                </a:extLst>
              </a:tr>
              <a:tr h="767583">
                <a:tc>
                  <a:txBody>
                    <a:bodyPr/>
                    <a:lstStyle/>
                    <a:p>
                      <a:pPr algn="ctr">
                        <a:buNone/>
                      </a:pPr>
                      <a:r>
                        <a:rPr lang="en-IN" sz="1200" dirty="0">
                          <a:latin typeface="Times New Roman" panose="02020603050405020304" pitchFamily="18" charset="0"/>
                          <a:cs typeface="Times New Roman" panose="02020603050405020304" pitchFamily="18" charset="0"/>
                        </a:rPr>
                        <a:t>6</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Component Selection (Motor, Battery, Controller)</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4</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5</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3576625"/>
                  </a:ext>
                </a:extLst>
              </a:tr>
              <a:tr h="767583">
                <a:tc>
                  <a:txBody>
                    <a:bodyPr/>
                    <a:lstStyle/>
                    <a:p>
                      <a:pPr algn="ctr">
                        <a:buNone/>
                      </a:pPr>
                      <a:r>
                        <a:rPr lang="en-IN" sz="1200" dirty="0">
                          <a:latin typeface="Times New Roman" panose="02020603050405020304" pitchFamily="18" charset="0"/>
                          <a:cs typeface="Times New Roman" panose="02020603050405020304" pitchFamily="18" charset="0"/>
                        </a:rPr>
                        <a:t>7</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Simulation &amp; Analysis (ANSYS, Stress &amp; Thermal)</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5</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6</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0264327"/>
                  </a:ext>
                </a:extLst>
              </a:tr>
            </a:tbl>
          </a:graphicData>
        </a:graphic>
      </p:graphicFrame>
      <p:graphicFrame>
        <p:nvGraphicFramePr>
          <p:cNvPr id="7" name="Table 6">
            <a:extLst>
              <a:ext uri="{FF2B5EF4-FFF2-40B4-BE49-F238E27FC236}">
                <a16:creationId xmlns:a16="http://schemas.microsoft.com/office/drawing/2014/main" id="{2F02B8C6-7F8E-9B0F-2855-C50905C00EB6}"/>
              </a:ext>
            </a:extLst>
          </p:cNvPr>
          <p:cNvGraphicFramePr>
            <a:graphicFrameLocks noGrp="1"/>
          </p:cNvGraphicFramePr>
          <p:nvPr>
            <p:extLst>
              <p:ext uri="{D42A27DB-BD31-4B8C-83A1-F6EECF244321}">
                <p14:modId xmlns:p14="http://schemas.microsoft.com/office/powerpoint/2010/main" val="3805380566"/>
              </p:ext>
            </p:extLst>
          </p:nvPr>
        </p:nvGraphicFramePr>
        <p:xfrm>
          <a:off x="6568440" y="1122991"/>
          <a:ext cx="5044440" cy="5335496"/>
        </p:xfrm>
        <a:graphic>
          <a:graphicData uri="http://schemas.openxmlformats.org/drawingml/2006/table">
            <a:tbl>
              <a:tblPr/>
              <a:tblGrid>
                <a:gridCol w="1008888">
                  <a:extLst>
                    <a:ext uri="{9D8B030D-6E8A-4147-A177-3AD203B41FA5}">
                      <a16:colId xmlns:a16="http://schemas.microsoft.com/office/drawing/2014/main" val="45124006"/>
                    </a:ext>
                  </a:extLst>
                </a:gridCol>
                <a:gridCol w="1008888">
                  <a:extLst>
                    <a:ext uri="{9D8B030D-6E8A-4147-A177-3AD203B41FA5}">
                      <a16:colId xmlns:a16="http://schemas.microsoft.com/office/drawing/2014/main" val="1965607121"/>
                    </a:ext>
                  </a:extLst>
                </a:gridCol>
                <a:gridCol w="1008888">
                  <a:extLst>
                    <a:ext uri="{9D8B030D-6E8A-4147-A177-3AD203B41FA5}">
                      <a16:colId xmlns:a16="http://schemas.microsoft.com/office/drawing/2014/main" val="4093679544"/>
                    </a:ext>
                  </a:extLst>
                </a:gridCol>
                <a:gridCol w="1008888">
                  <a:extLst>
                    <a:ext uri="{9D8B030D-6E8A-4147-A177-3AD203B41FA5}">
                      <a16:colId xmlns:a16="http://schemas.microsoft.com/office/drawing/2014/main" val="390912196"/>
                    </a:ext>
                  </a:extLst>
                </a:gridCol>
                <a:gridCol w="1008888">
                  <a:extLst>
                    <a:ext uri="{9D8B030D-6E8A-4147-A177-3AD203B41FA5}">
                      <a16:colId xmlns:a16="http://schemas.microsoft.com/office/drawing/2014/main" val="2848863648"/>
                    </a:ext>
                  </a:extLst>
                </a:gridCol>
              </a:tblGrid>
              <a:tr h="851951">
                <a:tc>
                  <a:txBody>
                    <a:bodyPr/>
                    <a:lstStyle/>
                    <a:p>
                      <a:pPr algn="ctr">
                        <a:buNone/>
                      </a:pPr>
                      <a:r>
                        <a:rPr lang="en-IN" sz="1200" dirty="0">
                          <a:latin typeface="Times New Roman" panose="02020603050405020304" pitchFamily="18" charset="0"/>
                          <a:cs typeface="Times New Roman" panose="02020603050405020304" pitchFamily="18" charset="0"/>
                        </a:rPr>
                        <a:t>8</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Procurement of Materials &amp; Components</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6</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7</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014045"/>
                  </a:ext>
                </a:extLst>
              </a:tr>
              <a:tr h="851951">
                <a:tc>
                  <a:txBody>
                    <a:bodyPr/>
                    <a:lstStyle/>
                    <a:p>
                      <a:pPr algn="ctr">
                        <a:buNone/>
                      </a:pPr>
                      <a:r>
                        <a:rPr lang="en-IN" sz="1200">
                          <a:latin typeface="Times New Roman" panose="02020603050405020304" pitchFamily="18" charset="0"/>
                          <a:cs typeface="Times New Roman" panose="02020603050405020304" pitchFamily="18" charset="0"/>
                        </a:rPr>
                        <a:t>9</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latin typeface="Times New Roman" panose="02020603050405020304" pitchFamily="18" charset="0"/>
                          <a:cs typeface="Times New Roman" panose="02020603050405020304" pitchFamily="18" charset="0"/>
                        </a:rPr>
                        <a:t>Fabrication / Manufacturing of Chassis &amp; Parts</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Week 7</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9</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3</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66344"/>
                  </a:ext>
                </a:extLst>
              </a:tr>
              <a:tr h="576250">
                <a:tc>
                  <a:txBody>
                    <a:bodyPr/>
                    <a:lstStyle/>
                    <a:p>
                      <a:pPr algn="ctr">
                        <a:buNone/>
                      </a:pPr>
                      <a:r>
                        <a:rPr lang="en-IN" sz="1200">
                          <a:latin typeface="Times New Roman" panose="02020603050405020304" pitchFamily="18" charset="0"/>
                          <a:cs typeface="Times New Roman" panose="02020603050405020304" pitchFamily="18" charset="0"/>
                        </a:rPr>
                        <a:t>10</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Assembly of Components &amp; Wiring</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Week 8</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9</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5726550"/>
                  </a:ext>
                </a:extLst>
              </a:tr>
              <a:tr h="714100">
                <a:tc>
                  <a:txBody>
                    <a:bodyPr/>
                    <a:lstStyle/>
                    <a:p>
                      <a:pPr algn="ctr">
                        <a:buNone/>
                      </a:pPr>
                      <a:r>
                        <a:rPr lang="en-IN" sz="1200">
                          <a:latin typeface="Times New Roman" panose="02020603050405020304" pitchFamily="18" charset="0"/>
                          <a:cs typeface="Times New Roman" panose="02020603050405020304" pitchFamily="18" charset="0"/>
                        </a:rPr>
                        <a:t>11</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Testing &amp; Troubleshooting (Multiple Iterations)</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Week 9</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Week 10</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116967"/>
                  </a:ext>
                </a:extLst>
              </a:tr>
              <a:tr h="851951">
                <a:tc>
                  <a:txBody>
                    <a:bodyPr/>
                    <a:lstStyle/>
                    <a:p>
                      <a:pPr algn="ctr">
                        <a:buNone/>
                      </a:pPr>
                      <a:r>
                        <a:rPr lang="en-IN" sz="1200">
                          <a:latin typeface="Times New Roman" panose="02020603050405020304" pitchFamily="18" charset="0"/>
                          <a:cs typeface="Times New Roman" panose="02020603050405020304" pitchFamily="18" charset="0"/>
                        </a:rPr>
                        <a:t>12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Performance Validation &amp; Optimization</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10</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Week 11</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1628626"/>
                  </a:ext>
                </a:extLst>
              </a:tr>
              <a:tr h="851951">
                <a:tc>
                  <a:txBody>
                    <a:bodyPr/>
                    <a:lstStyle/>
                    <a:p>
                      <a:pPr algn="ctr">
                        <a:buNone/>
                      </a:pPr>
                      <a:r>
                        <a:rPr lang="en-IN" sz="1200">
                          <a:latin typeface="Times New Roman" panose="02020603050405020304" pitchFamily="18" charset="0"/>
                          <a:cs typeface="Times New Roman" panose="02020603050405020304" pitchFamily="18" charset="0"/>
                        </a:rPr>
                        <a:t>13</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latin typeface="Times New Roman" panose="02020603050405020304" pitchFamily="18" charset="0"/>
                          <a:cs typeface="Times New Roman" panose="02020603050405020304" pitchFamily="18" charset="0"/>
                        </a:rPr>
                        <a:t>Final Report, Documentation &amp; Bill of Materials</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10</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Week 11</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8460790"/>
                  </a:ext>
                </a:extLst>
              </a:tr>
              <a:tr h="438399">
                <a:tc>
                  <a:txBody>
                    <a:bodyPr/>
                    <a:lstStyle/>
                    <a:p>
                      <a:pPr algn="ctr">
                        <a:buNone/>
                      </a:pPr>
                      <a:r>
                        <a:rPr lang="en-IN" sz="1200">
                          <a:latin typeface="Times New Roman" panose="02020603050405020304" pitchFamily="18" charset="0"/>
                          <a:cs typeface="Times New Roman" panose="02020603050405020304" pitchFamily="18" charset="0"/>
                        </a:rPr>
                        <a:t>14</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Presentation &amp; Project Submission</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11</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a:latin typeface="Times New Roman" panose="02020603050405020304" pitchFamily="18" charset="0"/>
                          <a:cs typeface="Times New Roman" panose="02020603050405020304" pitchFamily="18" charset="0"/>
                        </a:rPr>
                        <a:t>Week 12</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dirty="0">
                          <a:latin typeface="Times New Roman" panose="02020603050405020304" pitchFamily="18" charset="0"/>
                          <a:cs typeface="Times New Roman" panose="02020603050405020304" pitchFamily="18" charset="0"/>
                        </a:rPr>
                        <a:t>1</a:t>
                      </a:r>
                    </a:p>
                  </a:txBody>
                  <a:tcPr marL="32965" marR="32965" marT="16482" marB="1648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0391425"/>
                  </a:ext>
                </a:extLst>
              </a:tr>
            </a:tbl>
          </a:graphicData>
        </a:graphic>
      </p:graphicFrame>
      <p:pic>
        <p:nvPicPr>
          <p:cNvPr id="9" name="Picture 8">
            <a:extLst>
              <a:ext uri="{FF2B5EF4-FFF2-40B4-BE49-F238E27FC236}">
                <a16:creationId xmlns:a16="http://schemas.microsoft.com/office/drawing/2014/main" id="{0D208F74-A94D-2108-E551-CF6184521B7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pic>
        <p:nvPicPr>
          <p:cNvPr id="10" name="Picture 9">
            <a:extLst>
              <a:ext uri="{FF2B5EF4-FFF2-40B4-BE49-F238E27FC236}">
                <a16:creationId xmlns:a16="http://schemas.microsoft.com/office/drawing/2014/main" id="{BD4C4EC7-831E-F5E3-0EE5-588FFB3C4B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spTree>
    <p:extLst>
      <p:ext uri="{BB962C8B-B14F-4D97-AF65-F5344CB8AC3E}">
        <p14:creationId xmlns:p14="http://schemas.microsoft.com/office/powerpoint/2010/main" val="3741046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hart 15">
            <a:extLst>
              <a:ext uri="{FF2B5EF4-FFF2-40B4-BE49-F238E27FC236}">
                <a16:creationId xmlns:a16="http://schemas.microsoft.com/office/drawing/2014/main" id="{5398C8C4-9AAB-8072-5DB3-C3A8B537258D}"/>
              </a:ext>
            </a:extLst>
          </p:cNvPr>
          <p:cNvGraphicFramePr/>
          <p:nvPr>
            <p:extLst>
              <p:ext uri="{D42A27DB-BD31-4B8C-83A1-F6EECF244321}">
                <p14:modId xmlns:p14="http://schemas.microsoft.com/office/powerpoint/2010/main" val="2476104222"/>
              </p:ext>
            </p:extLst>
          </p:nvPr>
        </p:nvGraphicFramePr>
        <p:xfrm>
          <a:off x="2936568"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9" name="TextBox 18">
            <a:extLst>
              <a:ext uri="{FF2B5EF4-FFF2-40B4-BE49-F238E27FC236}">
                <a16:creationId xmlns:a16="http://schemas.microsoft.com/office/drawing/2014/main" id="{F02BF3E3-C24B-2152-2469-93766D04763E}"/>
              </a:ext>
            </a:extLst>
          </p:cNvPr>
          <p:cNvSpPr txBox="1"/>
          <p:nvPr/>
        </p:nvSpPr>
        <p:spPr>
          <a:xfrm>
            <a:off x="3687097" y="350334"/>
            <a:ext cx="6096000" cy="369332"/>
          </a:xfrm>
          <a:prstGeom prst="rect">
            <a:avLst/>
          </a:prstGeom>
          <a:noFill/>
        </p:spPr>
        <p:txBody>
          <a:bodyPr wrap="square">
            <a:spAutoFit/>
          </a:bodyPr>
          <a:lstStyle/>
          <a:p>
            <a:r>
              <a:rPr lang="en-US" dirty="0"/>
              <a:t>PIE CHART WEIGHT DISTRIBUTION OF THE VEHICLE</a:t>
            </a:r>
            <a:endParaRPr lang="en-IN" dirty="0"/>
          </a:p>
        </p:txBody>
      </p:sp>
      <p:pic>
        <p:nvPicPr>
          <p:cNvPr id="20" name="Picture 19">
            <a:extLst>
              <a:ext uri="{FF2B5EF4-FFF2-40B4-BE49-F238E27FC236}">
                <a16:creationId xmlns:a16="http://schemas.microsoft.com/office/drawing/2014/main" id="{2D7B1F32-801C-C599-AE69-D8612FA2A9F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pic>
        <p:nvPicPr>
          <p:cNvPr id="21" name="Picture 20">
            <a:extLst>
              <a:ext uri="{FF2B5EF4-FFF2-40B4-BE49-F238E27FC236}">
                <a16:creationId xmlns:a16="http://schemas.microsoft.com/office/drawing/2014/main" id="{1B57AE4A-2436-CC0D-6DA4-DD181389E0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spTree>
    <p:extLst>
      <p:ext uri="{BB962C8B-B14F-4D97-AF65-F5344CB8AC3E}">
        <p14:creationId xmlns:p14="http://schemas.microsoft.com/office/powerpoint/2010/main" val="4090811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926BEF-2A5D-D6BF-11C5-686005D06740}"/>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775310" y="208936"/>
            <a:ext cx="6440127" cy="6440127"/>
          </a:xfrm>
          <a:prstGeom prst="rect">
            <a:avLst/>
          </a:prstGeom>
        </p:spPr>
      </p:pic>
      <p:pic>
        <p:nvPicPr>
          <p:cNvPr id="4" name="Picture 3">
            <a:extLst>
              <a:ext uri="{FF2B5EF4-FFF2-40B4-BE49-F238E27FC236}">
                <a16:creationId xmlns:a16="http://schemas.microsoft.com/office/drawing/2014/main" id="{238AA83B-FAD8-B96A-6FAC-2B23DC4CF5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 cy="914400"/>
          </a:xfrm>
          <a:prstGeom prst="rect">
            <a:avLst/>
          </a:prstGeom>
        </p:spPr>
      </p:pic>
      <p:pic>
        <p:nvPicPr>
          <p:cNvPr id="5" name="Picture 4">
            <a:extLst>
              <a:ext uri="{FF2B5EF4-FFF2-40B4-BE49-F238E27FC236}">
                <a16:creationId xmlns:a16="http://schemas.microsoft.com/office/drawing/2014/main" id="{D50529F1-9F99-560D-4105-BB6C09A57FA2}"/>
              </a:ext>
            </a:extLst>
          </p:cNvPr>
          <p:cNvPicPr>
            <a:picLocks noChangeAspect="1"/>
          </p:cNvPicPr>
          <p:nvPr/>
        </p:nvPicPr>
        <p:blipFill>
          <a:blip r:embed="rId5">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277598" y="0"/>
            <a:ext cx="914401" cy="914401"/>
          </a:xfrm>
          <a:prstGeom prst="rect">
            <a:avLst/>
          </a:prstGeom>
        </p:spPr>
      </p:pic>
      <p:sp>
        <p:nvSpPr>
          <p:cNvPr id="6" name="TextBox 5">
            <a:extLst>
              <a:ext uri="{FF2B5EF4-FFF2-40B4-BE49-F238E27FC236}">
                <a16:creationId xmlns:a16="http://schemas.microsoft.com/office/drawing/2014/main" id="{D4E9DBC2-BC22-D3D5-692E-7341CEBC48F8}"/>
              </a:ext>
            </a:extLst>
          </p:cNvPr>
          <p:cNvSpPr txBox="1"/>
          <p:nvPr/>
        </p:nvSpPr>
        <p:spPr>
          <a:xfrm>
            <a:off x="3981691" y="2998113"/>
            <a:ext cx="8704162" cy="861774"/>
          </a:xfrm>
          <a:prstGeom prst="rect">
            <a:avLst/>
          </a:prstGeom>
          <a:noFill/>
        </p:spPr>
        <p:txBody>
          <a:bodyPr wrap="square" rtlCol="0">
            <a:spAutoFit/>
          </a:bodyPr>
          <a:lstStyle/>
          <a:p>
            <a:r>
              <a:rPr lang="en-IN" sz="5000" b="1" i="1"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1566078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TotalTime>
  <Words>1781</Words>
  <Application>Microsoft Office PowerPoint</Application>
  <PresentationFormat>Widescreen</PresentationFormat>
  <Paragraphs>548</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Fira Sans Extra Condensed Medium</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E-KART FULL ASSEMBLY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SRIGANTH R</dc:creator>
  <cp:lastModifiedBy>BHUVANAN M</cp:lastModifiedBy>
  <cp:revision>6</cp:revision>
  <dcterms:created xsi:type="dcterms:W3CDTF">2026-01-24T11:07:21Z</dcterms:created>
  <dcterms:modified xsi:type="dcterms:W3CDTF">2026-01-25T12:03:47Z</dcterms:modified>
</cp:coreProperties>
</file>